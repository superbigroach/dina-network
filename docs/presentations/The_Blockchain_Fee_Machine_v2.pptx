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a:t>
            </a:r>
          </a:p>
          <a:p/>
          <a:p>
            <a:r>
              <a:t>Open with: "I want to talk about a scam. Not a rug pull. Not a Ponzi scheme. Something much bigger. Something hiding in plain sight in every single blockchain that exists today."</a:t>
            </a:r>
          </a:p>
          <a:p/>
          <a:p>
            <a:r>
              <a:t>"Every blockchain charges you a fee to move your own money. Ethereum charges $1 to $50. Solana charges fractions of a cent. Even the 'cheap' ones charge something."</a:t>
            </a:r>
          </a:p>
          <a:p/>
          <a:p>
            <a:r>
              <a:t>"Today I'm going to explain why those fees exist, who profits from them, and why we built a blockchain that charges exactly zero."</a:t>
            </a:r>
          </a:p>
          <a:p/>
          <a:p>
            <a:r>
              <a:t>Pause. Let it land.</a:t>
            </a:r>
          </a:p>
          <a:p/>
          <a:p>
            <a:r>
              <a:t>"But first — let's talk about what a transaction actually is."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TRANSACTION IS</a:t>
            </a:r>
          </a:p>
          <a:p/>
          <a:p>
            <a:r>
              <a:t>"Let me show you what actually happens when you send someone $10 on a blockchain."</a:t>
            </a:r>
          </a:p>
          <a:p/>
          <a:p>
            <a:r>
              <a:t>"The computer checks your digital signature — is this really from you? Takes about a thousandth of a millisecond."</a:t>
            </a:r>
          </a:p>
          <a:p/>
          <a:p>
            <a:r>
              <a:t>"Checks the nonce — have we seen this transaction before? Another thousandth of a millisecond."</a:t>
            </a:r>
          </a:p>
          <a:p/>
          <a:p>
            <a:r>
              <a:t>"Checks your balance — do you actually have $10? Microseconds."</a:t>
            </a:r>
          </a:p>
          <a:p/>
          <a:p>
            <a:r>
              <a:t>"Subtracts $10 from your account. Adds $10 to theirs. Writes it to disk."</a:t>
            </a:r>
          </a:p>
          <a:p/>
          <a:p>
            <a:r>
              <a:t>"Total computation time: about one hundredth of a millisecond. The electricity cost is about one millionth of a dollar."</a:t>
            </a:r>
          </a:p>
          <a:p/>
          <a:p>
            <a:r>
              <a:t>Pause.</a:t>
            </a:r>
          </a:p>
          <a:p/>
          <a:p>
            <a:r>
              <a:t>"Ethereum charges $1 to $50 for this. That's a markup of one million to fifty million times the actual cost."</a:t>
            </a:r>
          </a:p>
          <a:p/>
          <a:p>
            <a:r>
              <a:t>"So where does that money go?"</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MARKUP</a:t>
            </a:r>
          </a:p>
          <a:p/>
          <a:p>
            <a:r>
              <a:t>"Let that sink in. The actual cost of processing your transaction is one millionth of a dollar."</a:t>
            </a:r>
          </a:p>
          <a:p/>
          <a:p>
            <a:r>
              <a:t>"Ethereum charges between one and fifty dollars."</a:t>
            </a:r>
          </a:p>
          <a:p/>
          <a:p>
            <a:r>
              <a:t>"That is a FIFTY MILLION times markup on the actual cost of computation."</a:t>
            </a:r>
          </a:p>
          <a:p/>
          <a:p>
            <a:r>
              <a:t>"Imagine buying a coffee. The beans cost a tenth of a cent. But the coffee shop charges you fifty thousand dollars. That's the ratio we're talking about."</a:t>
            </a:r>
          </a:p>
          <a:p/>
          <a:p>
            <a:r>
              <a:t>"No other industry in the world operates at this markup. Not airlines. Not pharmaceuticals. Not even luxury fashion."</a:t>
            </a:r>
          </a:p>
          <a:p/>
          <a:p>
            <a:r>
              <a:t>"So where does all that money go? It goes to strangers."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PAYING STRANGERS</a:t>
            </a:r>
          </a:p>
          <a:p/>
          <a:p>
            <a:r>
              <a:t>"Your gas fee doesn't pay for computation. We just established that computation costs basically nothing."</a:t>
            </a:r>
          </a:p>
          <a:p/>
          <a:p>
            <a:r>
              <a:t>"Your gas fee pays anonymous people around the world to run servers."</a:t>
            </a:r>
          </a:p>
          <a:p/>
          <a:p>
            <a:r>
              <a:t>"Ethereum has over one million validators — computers run by random people. Those people won't run their computers for free. So every time you move YOUR money, you pay THEM."</a:t>
            </a:r>
          </a:p>
          <a:p/>
          <a:p>
            <a:r>
              <a:t>"You are paying rent on someone else's computer to update a number in a database. Every. Single. Time."</a:t>
            </a:r>
          </a:p>
          <a:p/>
          <a:p>
            <a:r>
              <a:t>"Now here's where it gets interesting. You can't just Venmo these strangers. They're anonymous. They're global. So the industry invented an incredibly complex system to pay them."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RUBE GOLDBERG MACHINE</a:t>
            </a:r>
          </a:p>
          <a:p/>
          <a:p>
            <a:r>
              <a:t>Go through each one. Slowly. Let the absurdity build.</a:t>
            </a:r>
          </a:p>
          <a:p/>
          <a:p>
            <a:r>
              <a:t>"Step 1: Invent a token. Every chain has one. ETH, SOL, BNB, AVAX, MATIC."</a:t>
            </a:r>
          </a:p>
          <a:p/>
          <a:p>
            <a:r>
              <a:t>"Step 2: Get it listed on exchanges so it has a price."</a:t>
            </a:r>
          </a:p>
          <a:p/>
          <a:p>
            <a:r>
              <a:t>"Step 3: Now force every user to buy this token before they can do anything. That's what gas fees are — mandatory token purchases."</a:t>
            </a:r>
          </a:p>
          <a:p/>
          <a:p>
            <a:r>
              <a:t>"Step 4: But what if too many people want to transact at once? Build a dynamic fee market. Ethereum's EIP-1559 — base fee goes up and down with demand."</a:t>
            </a:r>
          </a:p>
          <a:p/>
          <a:p>
            <a:r>
              <a:t>"Step 5: But what if validators cheat? Make them lock up $80,000 as collateral. That's staking."</a:t>
            </a:r>
          </a:p>
          <a:p/>
          <a:p>
            <a:r>
              <a:t>"Step 6: If they misbehave, take their money. That's slashing."</a:t>
            </a:r>
          </a:p>
          <a:p/>
          <a:p>
            <a:r>
              <a:t>"Step 7: But fees alone don't cover validator costs. So print new tokens every year. That's inflation. Solana inflates 5% per year."</a:t>
            </a:r>
          </a:p>
          <a:p/>
          <a:p>
            <a:r>
              <a:t>"Step 8: But inflation devalues the token. So burn some tokens from fees. That's EIP-1559's burn mechanism."</a:t>
            </a:r>
          </a:p>
          <a:p/>
          <a:p>
            <a:r>
              <a:t>"Step 9: Oh wait, validators discovered they can reorder your transactions to steal from you. That's MEV. Now you need Flashbots and PBS to protect users from their own validators."</a:t>
            </a:r>
          </a:p>
          <a:p/>
          <a:p>
            <a:r>
              <a:t>"Step 10: Who decides all these parameters? Token holders vote. That's governance."</a:t>
            </a:r>
          </a:p>
          <a:p/>
          <a:p>
            <a:r>
              <a:t>"Step 11: Staking is too complicated for normal people, so build liquid staking — Lido now controls 28% of all staked ETH. So much for decentralization."</a:t>
            </a:r>
          </a:p>
          <a:p/>
          <a:p>
            <a:r>
              <a:t>"Step 12: Staking locks up too much capital, so build restaking on top of staking. That's EigenLayer."</a:t>
            </a:r>
          </a:p>
          <a:p/>
          <a:p>
            <a:r>
              <a:t>"TWELVE layers of complexity. Every single one exists because the first decision was 'let's pay anonymous strangers to run servers.'"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REAL REASON FOR TOKENS</a:t>
            </a:r>
          </a:p>
          <a:p/>
          <a:p>
            <a:r>
              <a:t>"Now let me tell you the real reason every blockchain has a token. It's not about 'validator incentives' or 'network security.'"</a:t>
            </a:r>
          </a:p>
          <a:p/>
          <a:p>
            <a:r>
              <a:t>"It's about making the founders obscenely wealthy."</a:t>
            </a:r>
          </a:p>
          <a:p/>
          <a:p>
            <a:r>
              <a:t>"The playbook is simple. You create a token. You keep 20 to 40 percent of the total supply for founders and early investors."</a:t>
            </a:r>
          </a:p>
          <a:p/>
          <a:p>
            <a:r>
              <a:t>"Then you launch your blockchain and require everyone to buy your token to pay gas fees. This creates forced, artificial demand."</a:t>
            </a:r>
          </a:p>
          <a:p/>
          <a:p>
            <a:r>
              <a:t>"That demand pushes the token price up. And the founders sell into that demand."</a:t>
            </a:r>
          </a:p>
          <a:p/>
          <a:p>
            <a:r>
              <a:t>"This is not speculation. This is the documented tokenomics of every major chain."</a:t>
            </a:r>
          </a:p>
          <a:p/>
          <a:p>
            <a:r>
              <a:t>"Let me show you the numbers."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SOLANA FOUNDER WEALTH</a:t>
            </a:r>
          </a:p>
          <a:p/>
          <a:p>
            <a:r>
              <a:t>"Solana Foundation and Solana Labs together hold approximately 300 million SOL tokens."</a:t>
            </a:r>
          </a:p>
          <a:p/>
          <a:p>
            <a:r>
              <a:t>"Depending on market price, that's between 15 and 90 BILLION dollars."</a:t>
            </a:r>
          </a:p>
          <a:p/>
          <a:p>
            <a:r>
              <a:t>"At its peak, the Solana Foundation's token holdings were worth more than Ford Motor Company. More than FedEx. More than most companies in the Fortune 500."</a:t>
            </a:r>
          </a:p>
          <a:p/>
          <a:p>
            <a:r>
              <a:t>"And here's the kicker — the validators who actually run the network? They pay $1,000 to $1,800 per month in hardware costs, PLUS $5,000 to $10,000 per month in voting fees just to participate."</a:t>
            </a:r>
          </a:p>
          <a:p/>
          <a:p>
            <a:r>
              <a:t>"Many Solana validators operate at a loss. They're hoping the SOL token goes up so their staking rewards become worth more."</a:t>
            </a:r>
          </a:p>
          <a:p/>
          <a:p>
            <a:r>
              <a:t>"The validators are speculating on the token. The founders already have the tokens. The users pay fees that create demand for the token. Everyone is feeding a system designed to enrich the people at the top."</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MORE FOUNDER WEALTH</a:t>
            </a:r>
          </a:p>
          <a:p/>
          <a:p>
            <a:r>
              <a:t>Go through each one. Let the numbers speak.</a:t>
            </a:r>
          </a:p>
          <a:p/>
          <a:p>
            <a:r>
              <a:t>"Ripple — the company holds approximately 40 billion XRP. At various points worth 20 to 100 billion dollars. The co-founder Jed McCaleb alone has sold over a billion dollars worth of XRP."</a:t>
            </a:r>
          </a:p>
          <a:p/>
          <a:p>
            <a:r>
              <a:t>"BNB — Binance holds roughly 80 million BNB. Worth 30 to 50 billion dollars. CZ became the wealthiest person in crypto entirely from the BNB token that users are forced to buy for gas on BSC."</a:t>
            </a:r>
          </a:p>
          <a:p/>
          <a:p>
            <a:r>
              <a:t>"Cardano — the Foundation and IOHK together hold about 6 billion ADA. Charles Hoskinson bought a ranch in Colorado, flies private."</a:t>
            </a:r>
          </a:p>
          <a:p/>
          <a:p>
            <a:r>
              <a:t>"Avalanche — the Foundation holds 270 million AVAX. Their token sale raised 60 million dollars in hours."</a:t>
            </a:r>
          </a:p>
          <a:p/>
          <a:p>
            <a:r>
              <a:t>"Every single one of these chains charges gas fees. Every single one requires users to buy their native token. And every single founder is a billionaire because of it."</a:t>
            </a:r>
          </a:p>
          <a:p/>
          <a:p>
            <a:r>
              <a:t>"Why would any of these people eliminate gas fees? It would destroy the value of their holdings."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VC PLAYBOOK</a:t>
            </a:r>
          </a:p>
          <a:p/>
          <a:p>
            <a:r>
              <a:t>"The founders aren't the only ones profiting. Let me explain the VC game."</a:t>
            </a:r>
          </a:p>
          <a:p/>
          <a:p>
            <a:r>
              <a:t>"A crypto VC invests $10 million in a token project. They get tokens at a steep discount — maybe $0.10 each. The token launches at $1. They sell for $100 million. 10x return in 6 to 12 months."</a:t>
            </a:r>
          </a:p>
          <a:p/>
          <a:p>
            <a:r>
              <a:t>"Compare that to investing in a real company. You put in $5 million for equity. The company has to actually build something, get users, grow revenue. Maybe in 5 to 7 years you exit at $100 million."</a:t>
            </a:r>
          </a:p>
          <a:p/>
          <a:p>
            <a:r>
              <a:t>"Same total return. But one takes 6 months and requires no product-market fit. Just a token launch and some hype."</a:t>
            </a:r>
          </a:p>
          <a:p/>
          <a:p>
            <a:r>
              <a:t>"Which one do you think VCs prefer?"</a:t>
            </a:r>
          </a:p>
          <a:p/>
          <a:p>
            <a:r>
              <a:t>"This is why the entire crypto funding ecosystem is designed around tokens. VCs don't care if the technology works. They care if the token pumps."</a:t>
            </a:r>
          </a:p>
          <a:p/>
          <a:p>
            <a:r>
              <a:t>"And tokens pump when gas fees create mandatory demand."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DECENTRALIZATION LIE</a:t>
            </a:r>
          </a:p>
          <a:p/>
          <a:p>
            <a:r>
              <a:t>"Now, whenever someone points out the absurdity of gas fees, the industry has a magic word that stops all questions."</a:t>
            </a:r>
          </a:p>
          <a:p/>
          <a:p>
            <a:r>
              <a:t>Read each exchange slowly. Use a dismissive, condescending tone for the answers — imitating crypto maximalists.</a:t>
            </a:r>
          </a:p>
          <a:p/>
          <a:p>
            <a:r>
              <a:t>"'Why are fees so high?' — 'Decentralization costs money.'"</a:t>
            </a:r>
          </a:p>
          <a:p/>
          <a:p>
            <a:r>
              <a:t>"'Why do I need a token to send USDC?' — 'Decentralization requires aligned incentives.'"</a:t>
            </a:r>
          </a:p>
          <a:p/>
          <a:p>
            <a:r>
              <a:t>"'Why can't you just run the servers yourself?' — 'That would be centralized.'"</a:t>
            </a:r>
          </a:p>
          <a:p/>
          <a:p>
            <a:r>
              <a:t>"Decentralization has become a religion. And like all religions, questioning it makes you a heretic."</a:t>
            </a:r>
          </a:p>
          <a:p/>
          <a:p>
            <a:r>
              <a:t>"But let's look at what 'decentralized' actually means for these chains."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TRUTH ABOUT DECENTRALIZATION</a:t>
            </a:r>
          </a:p>
          <a:p/>
          <a:p>
            <a:r>
              <a:t>"Let me show you how 'decentralized' these networks actually are."</a:t>
            </a:r>
          </a:p>
          <a:p/>
          <a:p>
            <a:r>
              <a:t>"Base. Coinbase's L2 chain. Literally one sequencer. One server run by one company. They still charge gas fees in ETH. Why? Because they're an Ethereum L2 and they inherit the fee model. But they could just... not charge fees. They choose to."</a:t>
            </a:r>
          </a:p>
          <a:p/>
          <a:p>
            <a:r>
              <a:t>"BSC. Binance Smart Chain. 21 validators. Binance controls enough BNB to pick every single validator. It is functionally Binance's private database. With extra steps. And gas fees."</a:t>
            </a:r>
          </a:p>
          <a:p/>
          <a:p>
            <a:r>
              <a:t>"Solana. The top 19 validators control enough stake to halt the network. And the chain HAS halted — over 10 times. Each time, Solana Labs coordinated a centralized restart. That is the opposite of decentralization."</a:t>
            </a:r>
          </a:p>
          <a:p/>
          <a:p>
            <a:r>
              <a:t>"Polygon. About 100 validators. But a multisig controlled by known insiders can override the chain."</a:t>
            </a:r>
          </a:p>
          <a:p/>
          <a:p>
            <a:r>
              <a:t>"And on Ethereum — the most 'decentralized' chain — Lido controls 28 percent of ALL staked ETH. One company. 28 percent of the network."</a:t>
            </a:r>
          </a:p>
          <a:p/>
          <a:p>
            <a:r>
              <a:t>"'Decentralized' is a marketing word. Not a technical description."</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MEV — MAXIMAL EXTRACTABLE VALUE</a:t>
            </a:r>
          </a:p>
          <a:p/>
          <a:p>
            <a:r>
              <a:t>"But wait, it gets worse. Not only do validators charge you fees — they also steal from you."</a:t>
            </a:r>
          </a:p>
          <a:p/>
          <a:p>
            <a:r>
              <a:t>"It's called MEV — Maximal Extractable Value. Here's how it works."</a:t>
            </a:r>
          </a:p>
          <a:p/>
          <a:p>
            <a:r>
              <a:t>"You want to swap Token X for $1,000 on a DEX. You submit the transaction."</a:t>
            </a:r>
          </a:p>
          <a:p/>
          <a:p>
            <a:r>
              <a:t>"A validator sees your transaction BEFORE it gets processed. They see that your buy is going to push the price up. So they buy Token X first, at the lower price."</a:t>
            </a:r>
          </a:p>
          <a:p/>
          <a:p>
            <a:r>
              <a:t>"Then YOUR transaction executes — at a higher price than it should have been."</a:t>
            </a:r>
          </a:p>
          <a:p/>
          <a:p>
            <a:r>
              <a:t>"Then the validator immediately sells their tokens at the now-higher price. Instant profit."</a:t>
            </a:r>
          </a:p>
          <a:p/>
          <a:p>
            <a:r>
              <a:t>"This is called a sandwich attack. It happens thousands of times per day."</a:t>
            </a:r>
          </a:p>
          <a:p/>
          <a:p>
            <a:r>
              <a:t>"Over $600 million has been extracted from Ethereum users through MEV. These are the same validators that the industry says are 'securing the network.' They're securing it while picking your pocket."</a:t>
            </a:r>
          </a:p>
          <a:p/>
          <a:p>
            <a:r>
              <a:t>"On Dina, the 21 validators are run by one company with a fiduciary duty to users. No MEV. No front-running. No sandwich attacks."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FAILED TRANSACTIONS</a:t>
            </a:r>
          </a:p>
          <a:p/>
          <a:p>
            <a:r>
              <a:t>"Here's my favorite one. On Ethereum, if your transaction FAILS — if it reverts, if it runs out of gas, if anything goes wrong — you STILL pay the gas fee."</a:t>
            </a:r>
          </a:p>
          <a:p/>
          <a:p>
            <a:r>
              <a:t>"Let me say that again. The transaction didn't work. Your money didn't move. Nothing happened. And you still paid $5, $10, $50."</a:t>
            </a:r>
          </a:p>
          <a:p/>
          <a:p>
            <a:r>
              <a:t>Pause for effect.</a:t>
            </a:r>
          </a:p>
          <a:p/>
          <a:p>
            <a:r>
              <a:t>"Imagine going to a restaurant. You order a steak. The kitchen burns it. They throw it in the trash. And they charge you the full price."</a:t>
            </a:r>
          </a:p>
          <a:p/>
          <a:p>
            <a:r>
              <a:t>"You'd walk out. You'd leave a one-star review. You might call the health department."</a:t>
            </a:r>
          </a:p>
          <a:p/>
          <a:p>
            <a:r>
              <a:t>"But on Ethereum, this is considered normal. The industry's response is — and I'm quoting — 'The validators still did computational work.'"</a:t>
            </a:r>
          </a:p>
          <a:p/>
          <a:p>
            <a:r>
              <a:t>"On Dina, a failed transaction costs exactly what a successful transaction costs: zero dollars."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USER EXPERIENCE</a:t>
            </a:r>
          </a:p>
          <a:p/>
          <a:p>
            <a:r>
              <a:t>Act this out. Roleplay a normal person trying to use crypto for the first time.</a:t>
            </a:r>
          </a:p>
          <a:p/>
          <a:p>
            <a:r>
              <a:t>"Let me walk you through what a normal person — not a crypto native, just a regular person — experiences when they try to send $10 in USDC to a friend."</a:t>
            </a:r>
          </a:p>
          <a:p/>
          <a:p>
            <a:r>
              <a:t>Use increasingly frustrated voice:</a:t>
            </a:r>
          </a:p>
          <a:p/>
          <a:p>
            <a:r>
              <a:t>"'I want to send USDC. Oh, I need ETH for gas fees? What's ETH? I have to buy a DIFFERENT cryptocurrency before I can send the one I have?'"</a:t>
            </a:r>
          </a:p>
          <a:p/>
          <a:p>
            <a:r>
              <a:t>"'OK, I'll buy ETH. I need to sign up for Coinbase. KYC verification. Upload my driver's license. Wait 3 days.'"</a:t>
            </a:r>
          </a:p>
          <a:p/>
          <a:p>
            <a:r>
              <a:t>"'Finally, I bought $20 of ETH. Now I can send my USDC. Wait — I need to APPROVE the USDC contract first? That's another transaction? That costs gas too?'"</a:t>
            </a:r>
          </a:p>
          <a:p/>
          <a:p>
            <a:r>
              <a:t>"'The approval cost $4. Four dollars to give permission to send my own money.'"</a:t>
            </a:r>
          </a:p>
          <a:p/>
          <a:p>
            <a:r>
              <a:t>"'Now the actual send. $12 gas fee? To send TEN dollars? The fee is MORE than the amount?'"</a:t>
            </a:r>
          </a:p>
          <a:p/>
          <a:p>
            <a:r>
              <a:t>"'Transaction failed. I STILL GOT CHARGED TWELVE DOLLARS?!'"</a:t>
            </a:r>
          </a:p>
          <a:p/>
          <a:p>
            <a:r>
              <a:t>"'I'm going back to Venmo.'"</a:t>
            </a:r>
          </a:p>
          <a:p/>
          <a:p>
            <a:r>
              <a:t>Pause.</a:t>
            </a:r>
          </a:p>
          <a:p/>
          <a:p>
            <a:r>
              <a:t>"400 million crypto wallets have been created. Almost nobody uses crypto for actual payments. This is why."</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NOBODY FIXED IT</a:t>
            </a:r>
          </a:p>
          <a:p/>
          <a:p>
            <a:r>
              <a:t>"So why hasn't anyone fixed this? The answer is simple."</a:t>
            </a:r>
          </a:p>
          <a:p/>
          <a:p>
            <a:r>
              <a:t>"Everyone who understands the problem profits from it."</a:t>
            </a:r>
          </a:p>
          <a:p/>
          <a:p>
            <a:r>
              <a:t>Go through each one:</a:t>
            </a:r>
          </a:p>
          <a:p/>
          <a:p>
            <a:r>
              <a:t>"Founders? Their token holdings are worth billions BECAUSE of mandatory gas fees. Gas fees create demand for the token."</a:t>
            </a:r>
          </a:p>
          <a:p/>
          <a:p>
            <a:r>
              <a:t>"VCs? Their returns depend on the token price. Token price depends on demand. Demand comes from gas fees."</a:t>
            </a:r>
          </a:p>
          <a:p/>
          <a:p>
            <a:r>
              <a:t>"Validators? They earn income directly from gas fees, MEV extraction, and token inflation."</a:t>
            </a:r>
          </a:p>
          <a:p/>
          <a:p>
            <a:r>
              <a:t>"Exchanges? Every time someone needs to buy ETH for gas, Coinbase takes a trading fee."</a:t>
            </a:r>
          </a:p>
          <a:p/>
          <a:p>
            <a:r>
              <a:t>"Developers? Most are paid in the native token. Lower token value equals a lower salary."</a:t>
            </a:r>
          </a:p>
          <a:p/>
          <a:p>
            <a:r>
              <a:t>"The ENTIRE ecosystem — from top to bottom — is financially aligned around keeping gas fees alive."</a:t>
            </a:r>
          </a:p>
          <a:p/>
          <a:p>
            <a:r>
              <a:t>"Nobody in the current system has any incentive to eliminate fees. Because fees are the engine that makes everyone at the top wealthy."</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IF WE JUST STOPPED</a:t>
            </a:r>
          </a:p>
          <a:p/>
          <a:p>
            <a:r>
              <a:t>Big pause before this slide. Let the previous slide's message sink in.</a:t>
            </a:r>
          </a:p>
          <a:p/>
          <a:p>
            <a:r>
              <a:t>"So here's the question I asked myself."</a:t>
            </a:r>
          </a:p>
          <a:p/>
          <a:p>
            <a:r>
              <a:t>"What if we just... stopped?"</a:t>
            </a:r>
          </a:p>
          <a:p/>
          <a:p>
            <a:r>
              <a:t>Let it hang.</a:t>
            </a:r>
          </a:p>
          <a:p/>
          <a:p>
            <a:r>
              <a:t>"What if we stopped inventing tokens to pay strangers? What if we stopped building 12 layers of economic complexity? What if we stopped charging users for computation that costs nothing?"</a:t>
            </a:r>
          </a:p>
          <a:p/>
          <a:p>
            <a:r>
              <a:t>"What if we just ran the servers ourselves?"</a:t>
            </a:r>
          </a:p>
          <a:p/>
          <a:p>
            <a:r>
              <a:t>"That's what we built. Let me show you."</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INTRODUCING DINA</a:t>
            </a:r>
          </a:p>
          <a:p/>
          <a:p>
            <a:r>
              <a:t>"This is Dina Network."</a:t>
            </a:r>
          </a:p>
          <a:p/>
          <a:p>
            <a:r>
              <a:t>"Zero dollars per transaction. One hundred millisecond finality. No native token."</a:t>
            </a:r>
          </a:p>
          <a:p/>
          <a:p>
            <a:r>
              <a:t>"We run 21 validators on Google Cloud. They do the exact same cryptographic verification as Ethereum and Solana — Ed25519 signatures, nonce checking, balance verification, state transitions."</a:t>
            </a:r>
          </a:p>
          <a:p/>
          <a:p>
            <a:r>
              <a:t>"Gas is metered for safety — smart contracts have limits to prevent infinite loops. But the gas price is zero. Nobody pays for computation."</a:t>
            </a:r>
          </a:p>
          <a:p/>
          <a:p>
            <a:r>
              <a:t>"The only currency is USDC. No ETH. No SOL. No gas token. You hold USDC, you send USDC, you receive USDC."</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IT COSTS</a:t>
            </a:r>
          </a:p>
          <a:p/>
          <a:p>
            <a:r>
              <a:t>"Here's what it actually costs to run our network."</a:t>
            </a:r>
          </a:p>
          <a:p/>
          <a:p>
            <a:r>
              <a:t>"Right now, the testnet is live. Three validators on Google Cloud. $75 per month. Twenty-five dollars per server. 100ms blocks. Zero fees."</a:t>
            </a:r>
          </a:p>
          <a:p/>
          <a:p>
            <a:r>
              <a:t>"For mainnet with 21 validators: $504 per month. Five hundred and four dollars. That's less than most companies pay for Slack."</a:t>
            </a:r>
          </a:p>
          <a:p/>
          <a:p>
            <a:r>
              <a:t>Point to the context numbers:</a:t>
            </a:r>
          </a:p>
          <a:p/>
          <a:p>
            <a:r>
              <a:t>"For context — Ethereum has over $80 billion in locked staking capital plus billions in annual gas fees flowing through the system."</a:t>
            </a:r>
          </a:p>
          <a:p/>
          <a:p>
            <a:r>
              <a:t>"Solana's validator network costs roughly $150 million per year in hardware and voting fees."</a:t>
            </a:r>
          </a:p>
          <a:p/>
          <a:p>
            <a:r>
              <a:t>"Dina: six thousand forty-eight dollars per year."</a:t>
            </a:r>
          </a:p>
          <a:p/>
          <a:p>
            <a:r>
              <a:t>"Same cryptographic verification. Same transaction processing. 99.99% cheaper."</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9 WALLET SYSTEM</a:t>
            </a:r>
          </a:p>
          <a:p/>
          <a:p>
            <a:r>
              <a:t>"Let me show you what we actually built."</a:t>
            </a:r>
          </a:p>
          <a:p/>
          <a:p>
            <a:r>
              <a:t>"Every Dina user gets 9 wallets organized into three tiers."</a:t>
            </a:r>
          </a:p>
          <a:p/>
          <a:p>
            <a:r>
              <a:t>"Three Smart Contract Accounts — Main, Savings, and Backup. These are your primary wallets. You control the keys. Each has its own password. If one gets compromised, you freeze it from another. They earn 4.5% APY — and you keep ALL of it."</a:t>
            </a:r>
          </a:p>
          <a:p/>
          <a:p>
            <a:r>
              <a:t>"Three Agent Wallets — for AI. Your shopping bot, your bill payment agent, your custom automation. They operate within daily spending limits. You can revoke them instantly from any Smart Account."</a:t>
            </a:r>
          </a:p>
          <a:p/>
          <a:p>
            <a:r>
              <a:t>"Three Parallel Wallets — for high throughput. Each has an independent nonce, meaning you can send 1,000 payments simultaneously. Not sequentially. In one 100ms block."</a:t>
            </a:r>
          </a:p>
          <a:p/>
          <a:p>
            <a:r>
              <a:t>"All earning yield. All in USDC. Users keep 100% of their yield. Dina doesn't take a cut."</a:t>
            </a:r>
          </a:p>
          <a:p/>
          <a:p>
            <a:r>
              <a:t>"Spam prevention is built into the balance model. Higher balance = more transaction capacity. Token bucket algorithm. $1 minimum to transact. No fees needed."</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a:t>
            </a:r>
          </a:p>
          <a:p/>
          <a:p>
            <a:r>
              <a:t>"And this isn't a pitch deck for something we're going to build. It's live."</a:t>
            </a:r>
          </a:p>
          <a:p/>
          <a:p>
            <a:r>
              <a:t>"Go to dina-wallet.web.app right now. On your phone, on your laptop."</a:t>
            </a:r>
          </a:p>
          <a:p/>
          <a:p>
            <a:r>
              <a:t>"Sign in with Google. Tap 'Get 10,000 Test USDC'. Send some to another address. Watch it confirm in 100 milliseconds."</a:t>
            </a:r>
          </a:p>
          <a:p/>
          <a:p>
            <a:r>
              <a:t>"Zero fees. Real cryptographic signatures. Real blockchain. Running on three servers that cost $75 a month total."</a:t>
            </a:r>
          </a:p>
          <a:p/>
          <a:p>
            <a:r>
              <a:t>If possible, do a live demo here. Show the wallet. Send a transaction. Show the 100ms confirmation time.</a:t>
            </a:r>
          </a:p>
          <a:p/>
          <a:p>
            <a:r>
              <a:t>"That's what a blockchain looks like when you remove the toll booth."</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a:t>
            </a:r>
          </a:p>
          <a:p/>
          <a:p>
            <a:r>
              <a:t>Deliver slowly. Let each line breathe.</a:t>
            </a:r>
          </a:p>
          <a:p/>
          <a:p>
            <a:r>
              <a:t>"The blockchain industry built a toll booth on a free road."</a:t>
            </a:r>
          </a:p>
          <a:p/>
          <a:p>
            <a:r>
              <a:t>Pause.</a:t>
            </a:r>
          </a:p>
          <a:p/>
          <a:p>
            <a:r>
              <a:t>"And convinced everyone the tolls were a feature."</a:t>
            </a:r>
          </a:p>
          <a:p/>
          <a:p>
            <a:r>
              <a:t>Pause.</a:t>
            </a:r>
          </a:p>
          <a:p/>
          <a:p>
            <a:r>
              <a:t>"We removed the toll booth."</a:t>
            </a:r>
          </a:p>
          <a:p/>
          <a:p>
            <a:r>
              <a:t>Long pause.</a:t>
            </a:r>
          </a:p>
          <a:p/>
          <a:p>
            <a:r>
              <a:t>"$0.00 per transaction. 100 milliseconds. 4.5% APY. USDC native. No token. No gas. No strangers."</a:t>
            </a:r>
          </a:p>
          <a:p/>
          <a:p>
            <a:r>
              <a:t>"Just a company. Paying a cloud bill. Running a blockchain."</a:t>
            </a:r>
          </a:p>
          <a:p/>
          <a:p>
            <a:r>
              <a:t>"Thank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828800"/>
            <a:ext cx="10972800" cy="914400"/>
          </a:xfrm>
          <a:prstGeom prst="rect">
            <a:avLst/>
          </a:prstGeom>
          <a:noFill/>
        </p:spPr>
        <p:txBody>
          <a:bodyPr wrap="square">
            <a:spAutoFit/>
          </a:bodyPr>
          <a:lstStyle/>
          <a:p>
            <a:pPr algn="l">
              <a:defRPr sz="2200" b="1">
                <a:solidFill>
                  <a:srgbClr val="34D399"/>
                </a:solidFill>
                <a:latin typeface="Segoe UI"/>
              </a:defRPr>
            </a:pPr>
            <a:r>
              <a:t>DINA NETWORK</a:t>
            </a:r>
          </a:p>
        </p:txBody>
      </p:sp>
      <p:sp>
        <p:nvSpPr>
          <p:cNvPr id="3" name="TextBox 2"/>
          <p:cNvSpPr txBox="1"/>
          <p:nvPr/>
        </p:nvSpPr>
        <p:spPr>
          <a:xfrm>
            <a:off x="1828800" y="2743200"/>
            <a:ext cx="10972800" cy="1828800"/>
          </a:xfrm>
          <a:prstGeom prst="rect">
            <a:avLst/>
          </a:prstGeom>
          <a:noFill/>
        </p:spPr>
        <p:txBody>
          <a:bodyPr wrap="square">
            <a:spAutoFit/>
          </a:bodyPr>
          <a:lstStyle/>
          <a:p>
            <a:pPr algn="l">
              <a:defRPr sz="5800" b="1">
                <a:solidFill>
                  <a:srgbClr val="FFFFFF"/>
                </a:solidFill>
                <a:latin typeface="Segoe UI"/>
              </a:defRPr>
            </a:pPr>
            <a:r>
              <a:t>The Blockchain</a:t>
            </a:r>
            <a:br/>
            <a:r>
              <a:t>Fee Machine</a:t>
            </a:r>
          </a:p>
        </p:txBody>
      </p:sp>
      <p:sp>
        <p:nvSpPr>
          <p:cNvPr id="4" name="TextBox 3"/>
          <p:cNvSpPr txBox="1"/>
          <p:nvPr/>
        </p:nvSpPr>
        <p:spPr>
          <a:xfrm>
            <a:off x="1828800" y="5486400"/>
            <a:ext cx="10972800" cy="914400"/>
          </a:xfrm>
          <a:prstGeom prst="rect">
            <a:avLst/>
          </a:prstGeom>
          <a:noFill/>
        </p:spPr>
        <p:txBody>
          <a:bodyPr wrap="square">
            <a:spAutoFit/>
          </a:bodyPr>
          <a:lstStyle/>
          <a:p>
            <a:pPr algn="l">
              <a:defRPr sz="2600" b="0">
                <a:solidFill>
                  <a:srgbClr val="94A3B8"/>
                </a:solidFill>
                <a:latin typeface="Segoe UI"/>
              </a:defRPr>
            </a:pPr>
            <a:r>
              <a:t>How an industry convinced the world that</a:t>
            </a:r>
            <a:br/>
            <a:r>
              <a:t>moving numbers in a database should cost $50.</a:t>
            </a:r>
          </a:p>
        </p:txBody>
      </p:sp>
      <p:sp>
        <p:nvSpPr>
          <p:cNvPr id="5" name="TextBox 4"/>
          <p:cNvSpPr txBox="1"/>
          <p:nvPr/>
        </p:nvSpPr>
        <p:spPr>
          <a:xfrm>
            <a:off x="1828800" y="7315200"/>
            <a:ext cx="10972800" cy="457200"/>
          </a:xfrm>
          <a:prstGeom prst="rect">
            <a:avLst/>
          </a:prstGeom>
          <a:noFill/>
        </p:spPr>
        <p:txBody>
          <a:bodyPr wrap="square">
            <a:spAutoFit/>
          </a:bodyPr>
          <a:lstStyle/>
          <a:p>
            <a:pPr algn="l">
              <a:defRPr sz="2000" b="0">
                <a:solidFill>
                  <a:srgbClr val="F87171"/>
                </a:solidFill>
                <a:latin typeface="Segoe UI"/>
              </a:defRPr>
            </a:pPr>
            <a:r>
              <a:t>And why they'll never fix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34D399"/>
                </a:solidFill>
                <a:latin typeface="Segoe UI"/>
              </a:defRPr>
            </a:pPr>
            <a:r>
              <a:t>WHAT A TRANSACTION ACTUALLY IS</a:t>
            </a:r>
          </a:p>
        </p:txBody>
      </p:sp>
      <p:sp>
        <p:nvSpPr>
          <p:cNvPr id="3" name="TextBox 2"/>
          <p:cNvSpPr txBox="1"/>
          <p:nvPr/>
        </p:nvSpPr>
        <p:spPr>
          <a:xfrm>
            <a:off x="1828800" y="1828800"/>
            <a:ext cx="10972800" cy="1371600"/>
          </a:xfrm>
          <a:prstGeom prst="rect">
            <a:avLst/>
          </a:prstGeom>
          <a:noFill/>
        </p:spPr>
        <p:txBody>
          <a:bodyPr wrap="square">
            <a:spAutoFit/>
          </a:bodyPr>
          <a:lstStyle/>
          <a:p>
            <a:pPr algn="l">
              <a:defRPr sz="4400" b="1">
                <a:solidFill>
                  <a:srgbClr val="FFFFFF"/>
                </a:solidFill>
                <a:latin typeface="Segoe UI"/>
              </a:defRPr>
            </a:pPr>
            <a:r>
              <a:t>You want to send $10.</a:t>
            </a:r>
          </a:p>
        </p:txBody>
      </p:sp>
      <p:sp>
        <p:nvSpPr>
          <p:cNvPr id="4" name="TextBox 3"/>
          <p:cNvSpPr txBox="1"/>
          <p:nvPr/>
        </p:nvSpPr>
        <p:spPr>
          <a:xfrm>
            <a:off x="1828800" y="3657600"/>
            <a:ext cx="9144000" cy="3200400"/>
          </a:xfrm>
          <a:prstGeom prst="rect">
            <a:avLst/>
          </a:prstGeom>
          <a:noFill/>
        </p:spPr>
        <p:txBody>
          <a:bodyPr wrap="square">
            <a:spAutoFit/>
          </a:bodyPr>
          <a:lstStyle/>
          <a:p>
            <a:pPr>
              <a:spcAft>
                <a:spcPts val="1040"/>
              </a:spcAft>
              <a:defRPr sz="2600" b="0">
                <a:solidFill>
                  <a:srgbClr val="FFFFFF"/>
                </a:solidFill>
                <a:latin typeface="Segoe UI"/>
              </a:defRPr>
            </a:pPr>
            <a:r>
              <a:t>Check your signature</a:t>
            </a:r>
          </a:p>
          <a:p>
            <a:pPr>
              <a:spcAft>
                <a:spcPts val="1040"/>
              </a:spcAft>
              <a:defRPr sz="2600" b="0">
                <a:solidFill>
                  <a:srgbClr val="FFFFFF"/>
                </a:solidFill>
                <a:latin typeface="Segoe UI"/>
              </a:defRPr>
            </a:pPr>
            <a:r>
              <a:t>Check you haven't sent this before</a:t>
            </a:r>
          </a:p>
          <a:p>
            <a:pPr>
              <a:spcAft>
                <a:spcPts val="1040"/>
              </a:spcAft>
              <a:defRPr sz="2600" b="0">
                <a:solidFill>
                  <a:srgbClr val="FFFFFF"/>
                </a:solidFill>
                <a:latin typeface="Segoe UI"/>
              </a:defRPr>
            </a:pPr>
            <a:r>
              <a:t>Check you have $10</a:t>
            </a:r>
          </a:p>
          <a:p>
            <a:pPr>
              <a:spcAft>
                <a:spcPts val="1040"/>
              </a:spcAft>
              <a:defRPr sz="2600" b="0">
                <a:solidFill>
                  <a:srgbClr val="FFFFFF"/>
                </a:solidFill>
                <a:latin typeface="Segoe UI"/>
              </a:defRPr>
            </a:pPr>
            <a:r>
              <a:t>Subtract $10 from you</a:t>
            </a:r>
          </a:p>
          <a:p>
            <a:pPr>
              <a:spcAft>
                <a:spcPts val="1040"/>
              </a:spcAft>
              <a:defRPr sz="2600" b="0">
                <a:solidFill>
                  <a:srgbClr val="FFFFFF"/>
                </a:solidFill>
                <a:latin typeface="Segoe UI"/>
              </a:defRPr>
            </a:pPr>
            <a:r>
              <a:t>Add $10 to them</a:t>
            </a:r>
          </a:p>
          <a:p>
            <a:pPr>
              <a:spcAft>
                <a:spcPts val="1040"/>
              </a:spcAft>
              <a:defRPr sz="2600" b="0">
                <a:solidFill>
                  <a:srgbClr val="FFFFFF"/>
                </a:solidFill>
                <a:latin typeface="Segoe UI"/>
              </a:defRPr>
            </a:pPr>
            <a:r>
              <a:t>Write it down</a:t>
            </a:r>
          </a:p>
        </p:txBody>
      </p:sp>
      <p:sp>
        <p:nvSpPr>
          <p:cNvPr id="5" name="TextBox 4"/>
          <p:cNvSpPr txBox="1"/>
          <p:nvPr/>
        </p:nvSpPr>
        <p:spPr>
          <a:xfrm>
            <a:off x="1828800" y="7132320"/>
            <a:ext cx="10972800" cy="548640"/>
          </a:xfrm>
          <a:prstGeom prst="rect">
            <a:avLst/>
          </a:prstGeom>
          <a:noFill/>
        </p:spPr>
        <p:txBody>
          <a:bodyPr wrap="square">
            <a:spAutoFit/>
          </a:bodyPr>
          <a:lstStyle/>
          <a:p>
            <a:pPr algn="l">
              <a:defRPr sz="2400" b="1">
                <a:solidFill>
                  <a:srgbClr val="34D399"/>
                </a:solidFill>
                <a:latin typeface="Segoe UI"/>
              </a:defRPr>
            </a:pPr>
            <a:r>
              <a:t>Total computation: 0.01 milliseconds</a:t>
            </a:r>
          </a:p>
        </p:txBody>
      </p:sp>
      <p:sp>
        <p:nvSpPr>
          <p:cNvPr id="6" name="TextBox 5"/>
          <p:cNvSpPr txBox="1"/>
          <p:nvPr/>
        </p:nvSpPr>
        <p:spPr>
          <a:xfrm>
            <a:off x="1828800" y="7589520"/>
            <a:ext cx="10972800" cy="548640"/>
          </a:xfrm>
          <a:prstGeom prst="rect">
            <a:avLst/>
          </a:prstGeom>
          <a:noFill/>
        </p:spPr>
        <p:txBody>
          <a:bodyPr wrap="square">
            <a:spAutoFit/>
          </a:bodyPr>
          <a:lstStyle/>
          <a:p>
            <a:pPr algn="l">
              <a:defRPr sz="2000" b="0">
                <a:solidFill>
                  <a:srgbClr val="34D399"/>
                </a:solidFill>
                <a:latin typeface="Segoe UI"/>
              </a:defRPr>
            </a:pPr>
            <a:r>
              <a:t>Total electricity: $0.000001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THE MARKUP</a:t>
            </a:r>
          </a:p>
        </p:txBody>
      </p:sp>
      <p:sp>
        <p:nvSpPr>
          <p:cNvPr id="3" name="TextBox 2"/>
          <p:cNvSpPr txBox="1"/>
          <p:nvPr/>
        </p:nvSpPr>
        <p:spPr>
          <a:xfrm>
            <a:off x="1828800" y="2286000"/>
            <a:ext cx="10972800" cy="914400"/>
          </a:xfrm>
          <a:prstGeom prst="rect">
            <a:avLst/>
          </a:prstGeom>
          <a:noFill/>
        </p:spPr>
        <p:txBody>
          <a:bodyPr wrap="square">
            <a:spAutoFit/>
          </a:bodyPr>
          <a:lstStyle/>
          <a:p>
            <a:pPr algn="l">
              <a:defRPr sz="3200" b="0">
                <a:solidFill>
                  <a:srgbClr val="94A3B8"/>
                </a:solidFill>
                <a:latin typeface="Segoe UI"/>
              </a:defRPr>
            </a:pPr>
            <a:r>
              <a:t>Actual cost:</a:t>
            </a:r>
          </a:p>
        </p:txBody>
      </p:sp>
      <p:sp>
        <p:nvSpPr>
          <p:cNvPr id="4" name="TextBox 3"/>
          <p:cNvSpPr txBox="1"/>
          <p:nvPr/>
        </p:nvSpPr>
        <p:spPr>
          <a:xfrm>
            <a:off x="5486400" y="2286000"/>
            <a:ext cx="5486400" cy="914400"/>
          </a:xfrm>
          <a:prstGeom prst="rect">
            <a:avLst/>
          </a:prstGeom>
          <a:noFill/>
        </p:spPr>
        <p:txBody>
          <a:bodyPr wrap="square">
            <a:spAutoFit/>
          </a:bodyPr>
          <a:lstStyle/>
          <a:p>
            <a:pPr algn="l">
              <a:defRPr sz="3200" b="1">
                <a:solidFill>
                  <a:srgbClr val="34D399"/>
                </a:solidFill>
                <a:latin typeface="Segoe UI"/>
              </a:defRPr>
            </a:pPr>
            <a:r>
              <a:t>$0.000001</a:t>
            </a:r>
          </a:p>
        </p:txBody>
      </p:sp>
      <p:sp>
        <p:nvSpPr>
          <p:cNvPr id="5" name="TextBox 4"/>
          <p:cNvSpPr txBox="1"/>
          <p:nvPr/>
        </p:nvSpPr>
        <p:spPr>
          <a:xfrm>
            <a:off x="1828800" y="3657600"/>
            <a:ext cx="10972800" cy="914400"/>
          </a:xfrm>
          <a:prstGeom prst="rect">
            <a:avLst/>
          </a:prstGeom>
          <a:noFill/>
        </p:spPr>
        <p:txBody>
          <a:bodyPr wrap="square">
            <a:spAutoFit/>
          </a:bodyPr>
          <a:lstStyle/>
          <a:p>
            <a:pPr algn="l">
              <a:defRPr sz="3200" b="0">
                <a:solidFill>
                  <a:srgbClr val="94A3B8"/>
                </a:solidFill>
                <a:latin typeface="Segoe UI"/>
              </a:defRPr>
            </a:pPr>
            <a:r>
              <a:t>Ethereum charges:</a:t>
            </a:r>
          </a:p>
        </p:txBody>
      </p:sp>
      <p:sp>
        <p:nvSpPr>
          <p:cNvPr id="6" name="TextBox 5"/>
          <p:cNvSpPr txBox="1"/>
          <p:nvPr/>
        </p:nvSpPr>
        <p:spPr>
          <a:xfrm>
            <a:off x="5486400" y="3657600"/>
            <a:ext cx="5486400" cy="914400"/>
          </a:xfrm>
          <a:prstGeom prst="rect">
            <a:avLst/>
          </a:prstGeom>
          <a:noFill/>
        </p:spPr>
        <p:txBody>
          <a:bodyPr wrap="square">
            <a:spAutoFit/>
          </a:bodyPr>
          <a:lstStyle/>
          <a:p>
            <a:pPr algn="l">
              <a:defRPr sz="3200" b="1">
                <a:solidFill>
                  <a:srgbClr val="F87171"/>
                </a:solidFill>
                <a:latin typeface="Segoe UI"/>
              </a:defRPr>
            </a:pPr>
            <a:r>
              <a:t>$1 – $50</a:t>
            </a:r>
          </a:p>
        </p:txBody>
      </p:sp>
      <p:sp>
        <p:nvSpPr>
          <p:cNvPr id="7" name="TextBox 6"/>
          <p:cNvSpPr txBox="1"/>
          <p:nvPr/>
        </p:nvSpPr>
        <p:spPr>
          <a:xfrm>
            <a:off x="1828800" y="5486400"/>
            <a:ext cx="10972800" cy="1371600"/>
          </a:xfrm>
          <a:prstGeom prst="rect">
            <a:avLst/>
          </a:prstGeom>
          <a:noFill/>
        </p:spPr>
        <p:txBody>
          <a:bodyPr wrap="square">
            <a:spAutoFit/>
          </a:bodyPr>
          <a:lstStyle/>
          <a:p>
            <a:pPr algn="ctr">
              <a:defRPr sz="4800" b="1">
                <a:solidFill>
                  <a:srgbClr val="FFFFFF"/>
                </a:solidFill>
                <a:latin typeface="Segoe UI"/>
              </a:defRPr>
            </a:pPr>
            <a:r>
              <a:t>That's a 50,000,000x markup.</a:t>
            </a:r>
          </a:p>
        </p:txBody>
      </p:sp>
      <p:sp>
        <p:nvSpPr>
          <p:cNvPr id="8" name="TextBox 7"/>
          <p:cNvSpPr txBox="1"/>
          <p:nvPr/>
        </p:nvSpPr>
        <p:spPr>
          <a:xfrm>
            <a:off x="1828800" y="7315200"/>
            <a:ext cx="10972800" cy="548640"/>
          </a:xfrm>
          <a:prstGeom prst="rect">
            <a:avLst/>
          </a:prstGeom>
          <a:noFill/>
        </p:spPr>
        <p:txBody>
          <a:bodyPr wrap="square">
            <a:spAutoFit/>
          </a:bodyPr>
          <a:lstStyle/>
          <a:p>
            <a:pPr algn="ctr">
              <a:defRPr sz="2400" b="0">
                <a:solidFill>
                  <a:srgbClr val="FBBF24"/>
                </a:solidFill>
                <a:latin typeface="Segoe UI"/>
              </a:defRPr>
            </a:pPr>
            <a:r>
              <a:t>Where does the money 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WHERE YOUR GAS FEES GO</a:t>
            </a:r>
          </a:p>
        </p:txBody>
      </p:sp>
      <p:sp>
        <p:nvSpPr>
          <p:cNvPr id="3" name="TextBox 2"/>
          <p:cNvSpPr txBox="1"/>
          <p:nvPr/>
        </p:nvSpPr>
        <p:spPr>
          <a:xfrm>
            <a:off x="1828800" y="2286000"/>
            <a:ext cx="10972800" cy="1828800"/>
          </a:xfrm>
          <a:prstGeom prst="rect">
            <a:avLst/>
          </a:prstGeom>
          <a:noFill/>
        </p:spPr>
        <p:txBody>
          <a:bodyPr wrap="square">
            <a:spAutoFit/>
          </a:bodyPr>
          <a:lstStyle/>
          <a:p>
            <a:pPr algn="l">
              <a:defRPr sz="4800" b="1">
                <a:solidFill>
                  <a:srgbClr val="FFFFFF"/>
                </a:solidFill>
                <a:latin typeface="Segoe UI"/>
              </a:defRPr>
            </a:pPr>
            <a:r>
              <a:t>You're paying rent</a:t>
            </a:r>
            <a:br/>
            <a:r>
              <a:t>on strangers' computers.</a:t>
            </a:r>
          </a:p>
        </p:txBody>
      </p:sp>
      <p:sp>
        <p:nvSpPr>
          <p:cNvPr id="4" name="TextBox 3"/>
          <p:cNvSpPr txBox="1"/>
          <p:nvPr/>
        </p:nvSpPr>
        <p:spPr>
          <a:xfrm>
            <a:off x="1828800" y="5029200"/>
            <a:ext cx="10972800" cy="1828800"/>
          </a:xfrm>
          <a:prstGeom prst="rect">
            <a:avLst/>
          </a:prstGeom>
          <a:noFill/>
        </p:spPr>
        <p:txBody>
          <a:bodyPr wrap="square">
            <a:spAutoFit/>
          </a:bodyPr>
          <a:lstStyle/>
          <a:p>
            <a:pPr algn="l">
              <a:defRPr sz="2800" b="0">
                <a:solidFill>
                  <a:srgbClr val="94A3B8"/>
                </a:solidFill>
                <a:latin typeface="Segoe UI"/>
              </a:defRPr>
            </a:pPr>
            <a:r>
              <a:t>That's it. That's the entire reason</a:t>
            </a:r>
            <a:br/>
            <a:r>
              <a:t>gas fees exist.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548640"/>
            <a:ext cx="10972800" cy="548640"/>
          </a:xfrm>
          <a:prstGeom prst="rect">
            <a:avLst/>
          </a:prstGeom>
          <a:noFill/>
        </p:spPr>
        <p:txBody>
          <a:bodyPr wrap="square">
            <a:spAutoFit/>
          </a:bodyPr>
          <a:lstStyle/>
          <a:p>
            <a:pPr algn="l">
              <a:defRPr sz="1800" b="1">
                <a:solidFill>
                  <a:srgbClr val="F87171"/>
                </a:solidFill>
                <a:latin typeface="Segoe UI"/>
              </a:defRPr>
            </a:pPr>
            <a:r>
              <a:t>THE SYSTEM THEY BUILT TO PAY STRANGERS</a:t>
            </a:r>
          </a:p>
        </p:txBody>
      </p:sp>
      <p:sp>
        <p:nvSpPr>
          <p:cNvPr id="3" name="TextBox 2"/>
          <p:cNvSpPr txBox="1"/>
          <p:nvPr/>
        </p:nvSpPr>
        <p:spPr>
          <a:xfrm>
            <a:off x="1828800" y="1280160"/>
            <a:ext cx="10972800" cy="6400800"/>
          </a:xfrm>
          <a:prstGeom prst="rect">
            <a:avLst/>
          </a:prstGeom>
          <a:noFill/>
        </p:spPr>
        <p:txBody>
          <a:bodyPr wrap="square">
            <a:spAutoFit/>
          </a:bodyPr>
          <a:lstStyle/>
          <a:p>
            <a:pPr>
              <a:spcAft>
                <a:spcPts val="960"/>
              </a:spcAft>
              <a:defRPr sz="2400" b="0">
                <a:solidFill>
                  <a:srgbClr val="FFFFFF"/>
                </a:solidFill>
                <a:latin typeface="Segoe UI"/>
              </a:defRPr>
            </a:pPr>
            <a:r>
              <a:t>1.  Invent a token (ETH, SOL, BNB...)</a:t>
            </a:r>
          </a:p>
          <a:p>
            <a:pPr>
              <a:spcAft>
                <a:spcPts val="960"/>
              </a:spcAft>
              <a:defRPr sz="2400" b="0">
                <a:solidFill>
                  <a:srgbClr val="FFFFFF"/>
                </a:solidFill>
                <a:latin typeface="Segoe UI"/>
              </a:defRPr>
            </a:pPr>
            <a:r>
              <a:t>2.  Give it a market price</a:t>
            </a:r>
          </a:p>
          <a:p>
            <a:pPr>
              <a:spcAft>
                <a:spcPts val="960"/>
              </a:spcAft>
              <a:defRPr sz="2400" b="0">
                <a:solidFill>
                  <a:srgbClr val="FFFFFF"/>
                </a:solidFill>
                <a:latin typeface="Segoe UI"/>
              </a:defRPr>
            </a:pPr>
            <a:r>
              <a:t>3.  Force users to buy it for gas</a:t>
            </a:r>
          </a:p>
          <a:p>
            <a:pPr>
              <a:spcAft>
                <a:spcPts val="960"/>
              </a:spcAft>
              <a:defRPr sz="2400" b="0">
                <a:solidFill>
                  <a:srgbClr val="FFFFFF"/>
                </a:solidFill>
                <a:latin typeface="Segoe UI"/>
              </a:defRPr>
            </a:pPr>
            <a:r>
              <a:t>4.  Build a fee market (EIP-1559)</a:t>
            </a:r>
          </a:p>
          <a:p>
            <a:pPr>
              <a:spcAft>
                <a:spcPts val="960"/>
              </a:spcAft>
              <a:defRPr sz="2400" b="0">
                <a:solidFill>
                  <a:srgbClr val="FFFFFF"/>
                </a:solidFill>
                <a:latin typeface="Segoe UI"/>
              </a:defRPr>
            </a:pPr>
            <a:r>
              <a:t>5.  Add staking ($80K collateral per validator)</a:t>
            </a:r>
          </a:p>
          <a:p>
            <a:pPr>
              <a:spcAft>
                <a:spcPts val="960"/>
              </a:spcAft>
              <a:defRPr sz="2400" b="0">
                <a:solidFill>
                  <a:srgbClr val="FFFFFF"/>
                </a:solidFill>
                <a:latin typeface="Segoe UI"/>
              </a:defRPr>
            </a:pPr>
            <a:r>
              <a:t>6.  Add slashing (punishment for misbehavior)</a:t>
            </a:r>
          </a:p>
          <a:p>
            <a:pPr>
              <a:spcAft>
                <a:spcPts val="960"/>
              </a:spcAft>
              <a:defRPr sz="2400" b="0">
                <a:solidFill>
                  <a:srgbClr val="FFFFFF"/>
                </a:solidFill>
                <a:latin typeface="Segoe UI"/>
              </a:defRPr>
            </a:pPr>
            <a:r>
              <a:t>7.  Add inflation (print new tokens when fees aren't enough)</a:t>
            </a:r>
          </a:p>
          <a:p>
            <a:pPr>
              <a:spcAft>
                <a:spcPts val="960"/>
              </a:spcAft>
              <a:defRPr sz="2400" b="0">
                <a:solidFill>
                  <a:srgbClr val="FFFFFF"/>
                </a:solidFill>
                <a:latin typeface="Segoe UI"/>
              </a:defRPr>
            </a:pPr>
            <a:r>
              <a:t>8.  Add token burns (control supply from inflation)</a:t>
            </a:r>
          </a:p>
          <a:p>
            <a:pPr>
              <a:spcAft>
                <a:spcPts val="960"/>
              </a:spcAft>
              <a:defRPr sz="2400" b="0">
                <a:solidFill>
                  <a:srgbClr val="FFFFFF"/>
                </a:solidFill>
                <a:latin typeface="Segoe UI"/>
              </a:defRPr>
            </a:pPr>
            <a:r>
              <a:t>9.  Add MEV protection (validators front-run users)</a:t>
            </a:r>
          </a:p>
          <a:p>
            <a:pPr>
              <a:spcAft>
                <a:spcPts val="960"/>
              </a:spcAft>
              <a:defRPr sz="2400" b="0">
                <a:solidFill>
                  <a:srgbClr val="FFFFFF"/>
                </a:solidFill>
                <a:latin typeface="Segoe UI"/>
              </a:defRPr>
            </a:pPr>
            <a:r>
              <a:t>10. Add governance (vote on fee parameters)</a:t>
            </a:r>
          </a:p>
          <a:p>
            <a:pPr>
              <a:spcAft>
                <a:spcPts val="960"/>
              </a:spcAft>
              <a:defRPr sz="2400" b="0">
                <a:solidFill>
                  <a:srgbClr val="FFFFFF"/>
                </a:solidFill>
                <a:latin typeface="Segoe UI"/>
              </a:defRPr>
            </a:pPr>
            <a:r>
              <a:t>11. Add liquid staking (staking is too complex for normal people)</a:t>
            </a:r>
          </a:p>
          <a:p>
            <a:pPr>
              <a:spcAft>
                <a:spcPts val="960"/>
              </a:spcAft>
              <a:defRPr sz="2400" b="0">
                <a:solidFill>
                  <a:srgbClr val="FFFFFF"/>
                </a:solidFill>
                <a:latin typeface="Segoe UI"/>
              </a:defRPr>
            </a:pPr>
            <a:r>
              <a:t>12. Add restaking (staking locks up too much capital)</a:t>
            </a:r>
          </a:p>
        </p:txBody>
      </p:sp>
      <p:sp>
        <p:nvSpPr>
          <p:cNvPr id="4" name="TextBox 3"/>
          <p:cNvSpPr txBox="1"/>
          <p:nvPr/>
        </p:nvSpPr>
        <p:spPr>
          <a:xfrm>
            <a:off x="1828800" y="7498079"/>
            <a:ext cx="10972800" cy="548640"/>
          </a:xfrm>
          <a:prstGeom prst="rect">
            <a:avLst/>
          </a:prstGeom>
          <a:noFill/>
        </p:spPr>
        <p:txBody>
          <a:bodyPr wrap="square">
            <a:spAutoFit/>
          </a:bodyPr>
          <a:lstStyle/>
          <a:p>
            <a:pPr algn="ctr">
              <a:defRPr sz="2200" b="1">
                <a:solidFill>
                  <a:srgbClr val="FBBF24"/>
                </a:solidFill>
                <a:latin typeface="Segoe UI"/>
              </a:defRPr>
            </a:pPr>
            <a:r>
              <a:t>12 layers of complexity. All to pay strangers.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THE REAL REASON TOKENS EXIST</a:t>
            </a:r>
          </a:p>
        </p:txBody>
      </p:sp>
      <p:sp>
        <p:nvSpPr>
          <p:cNvPr id="3" name="TextBox 2"/>
          <p:cNvSpPr txBox="1"/>
          <p:nvPr/>
        </p:nvSpPr>
        <p:spPr>
          <a:xfrm>
            <a:off x="1828800" y="2286000"/>
            <a:ext cx="10972800" cy="1371600"/>
          </a:xfrm>
          <a:prstGeom prst="rect">
            <a:avLst/>
          </a:prstGeom>
          <a:noFill/>
        </p:spPr>
        <p:txBody>
          <a:bodyPr wrap="square">
            <a:spAutoFit/>
          </a:bodyPr>
          <a:lstStyle/>
          <a:p>
            <a:pPr algn="l">
              <a:defRPr sz="5200" b="1">
                <a:solidFill>
                  <a:srgbClr val="FFFFFF"/>
                </a:solidFill>
                <a:latin typeface="Segoe UI"/>
              </a:defRPr>
            </a:pPr>
            <a:r>
              <a:t>To make founders rich.</a:t>
            </a:r>
          </a:p>
        </p:txBody>
      </p:sp>
      <p:sp>
        <p:nvSpPr>
          <p:cNvPr id="4" name="Rounded Rectangle 3"/>
          <p:cNvSpPr/>
          <p:nvPr/>
        </p:nvSpPr>
        <p:spPr>
          <a:xfrm>
            <a:off x="1828800" y="4572000"/>
            <a:ext cx="109728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0" y="4754880"/>
            <a:ext cx="10058400" cy="2286000"/>
          </a:xfrm>
          <a:prstGeom prst="rect">
            <a:avLst/>
          </a:prstGeom>
          <a:noFill/>
        </p:spPr>
        <p:txBody>
          <a:bodyPr wrap="square">
            <a:spAutoFit/>
          </a:bodyPr>
          <a:lstStyle/>
          <a:p>
            <a:pPr>
              <a:spcAft>
                <a:spcPts val="960"/>
              </a:spcAft>
              <a:defRPr sz="2400" b="0">
                <a:solidFill>
                  <a:srgbClr val="FFFFFF"/>
                </a:solidFill>
                <a:latin typeface="Segoe UI"/>
              </a:defRPr>
            </a:pPr>
            <a:r>
              <a:t>Create token → keep 20-40% of supply</a:t>
            </a:r>
          </a:p>
          <a:p>
            <a:pPr>
              <a:spcAft>
                <a:spcPts val="960"/>
              </a:spcAft>
              <a:defRPr sz="2400" b="0">
                <a:solidFill>
                  <a:srgbClr val="FFFFFF"/>
                </a:solidFill>
                <a:latin typeface="Segoe UI"/>
              </a:defRPr>
            </a:pPr>
            <a:r>
              <a:t>Require token for gas → creates forced demand</a:t>
            </a:r>
          </a:p>
          <a:p>
            <a:pPr>
              <a:spcAft>
                <a:spcPts val="960"/>
              </a:spcAft>
              <a:defRPr sz="2400" b="0">
                <a:solidFill>
                  <a:srgbClr val="FFFFFF"/>
                </a:solidFill>
                <a:latin typeface="Segoe UI"/>
              </a:defRPr>
            </a:pPr>
            <a:r>
              <a:t>Demand pushes price up</a:t>
            </a:r>
          </a:p>
          <a:p>
            <a:pPr>
              <a:spcAft>
                <a:spcPts val="1120"/>
              </a:spcAft>
              <a:defRPr sz="2800" b="1">
                <a:solidFill>
                  <a:srgbClr val="F87171"/>
                </a:solidFill>
                <a:latin typeface="Segoe UI"/>
              </a:defRPr>
            </a:pPr>
            <a:r>
              <a:t>Founders sell into the demand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THE NUMBERS</a:t>
            </a:r>
          </a:p>
        </p:txBody>
      </p:sp>
      <p:sp>
        <p:nvSpPr>
          <p:cNvPr id="3" name="TextBox 2"/>
          <p:cNvSpPr txBox="1"/>
          <p:nvPr/>
        </p:nvSpPr>
        <p:spPr>
          <a:xfrm>
            <a:off x="1828800" y="1828800"/>
            <a:ext cx="10972800" cy="914400"/>
          </a:xfrm>
          <a:prstGeom prst="rect">
            <a:avLst/>
          </a:prstGeom>
          <a:noFill/>
        </p:spPr>
        <p:txBody>
          <a:bodyPr wrap="square">
            <a:spAutoFit/>
          </a:bodyPr>
          <a:lstStyle/>
          <a:p>
            <a:pPr algn="l">
              <a:defRPr sz="3600" b="1">
                <a:solidFill>
                  <a:srgbClr val="FFFFFF"/>
                </a:solidFill>
                <a:latin typeface="Segoe UI"/>
              </a:defRPr>
            </a:pPr>
            <a:r>
              <a:t>Solana Foundation + Labs</a:t>
            </a:r>
          </a:p>
        </p:txBody>
      </p:sp>
      <p:sp>
        <p:nvSpPr>
          <p:cNvPr id="4" name="TextBox 3"/>
          <p:cNvSpPr txBox="1"/>
          <p:nvPr/>
        </p:nvSpPr>
        <p:spPr>
          <a:xfrm>
            <a:off x="1828800" y="3017520"/>
            <a:ext cx="10972800" cy="914400"/>
          </a:xfrm>
          <a:prstGeom prst="rect">
            <a:avLst/>
          </a:prstGeom>
          <a:noFill/>
        </p:spPr>
        <p:txBody>
          <a:bodyPr wrap="square">
            <a:spAutoFit/>
          </a:bodyPr>
          <a:lstStyle/>
          <a:p>
            <a:pPr algn="l">
              <a:defRPr sz="3200" b="0">
                <a:solidFill>
                  <a:srgbClr val="94A3B8"/>
                </a:solidFill>
                <a:latin typeface="Segoe UI"/>
              </a:defRPr>
            </a:pPr>
            <a:r>
              <a:t>~300 million SOL</a:t>
            </a:r>
          </a:p>
        </p:txBody>
      </p:sp>
      <p:sp>
        <p:nvSpPr>
          <p:cNvPr id="5" name="TextBox 4"/>
          <p:cNvSpPr txBox="1"/>
          <p:nvPr/>
        </p:nvSpPr>
        <p:spPr>
          <a:xfrm>
            <a:off x="1828800" y="4114800"/>
            <a:ext cx="10972800" cy="1371600"/>
          </a:xfrm>
          <a:prstGeom prst="rect">
            <a:avLst/>
          </a:prstGeom>
          <a:noFill/>
        </p:spPr>
        <p:txBody>
          <a:bodyPr wrap="square">
            <a:spAutoFit/>
          </a:bodyPr>
          <a:lstStyle/>
          <a:p>
            <a:pPr algn="l">
              <a:defRPr sz="5600" b="1">
                <a:solidFill>
                  <a:srgbClr val="F87171"/>
                </a:solidFill>
                <a:latin typeface="Segoe UI"/>
              </a:defRPr>
            </a:pPr>
            <a:r>
              <a:t>$15 – $90 billion</a:t>
            </a:r>
          </a:p>
        </p:txBody>
      </p:sp>
      <p:sp>
        <p:nvSpPr>
          <p:cNvPr id="6" name="TextBox 5"/>
          <p:cNvSpPr txBox="1"/>
          <p:nvPr/>
        </p:nvSpPr>
        <p:spPr>
          <a:xfrm>
            <a:off x="1828800" y="5943600"/>
            <a:ext cx="10972800" cy="914400"/>
          </a:xfrm>
          <a:prstGeom prst="rect">
            <a:avLst/>
          </a:prstGeom>
          <a:noFill/>
        </p:spPr>
        <p:txBody>
          <a:bodyPr wrap="square">
            <a:spAutoFit/>
          </a:bodyPr>
          <a:lstStyle/>
          <a:p>
            <a:pPr algn="l">
              <a:defRPr sz="2400" b="0">
                <a:solidFill>
                  <a:srgbClr val="FBBF24"/>
                </a:solidFill>
                <a:latin typeface="Segoe UI"/>
              </a:defRPr>
            </a:pPr>
            <a:r>
              <a:t>At peak, worth more than Ford Motor Company.</a:t>
            </a:r>
          </a:p>
        </p:txBody>
      </p:sp>
      <p:sp>
        <p:nvSpPr>
          <p:cNvPr id="7" name="TextBox 6"/>
          <p:cNvSpPr txBox="1"/>
          <p:nvPr/>
        </p:nvSpPr>
        <p:spPr>
          <a:xfrm>
            <a:off x="1828800" y="6858000"/>
            <a:ext cx="10972800" cy="914400"/>
          </a:xfrm>
          <a:prstGeom prst="rect">
            <a:avLst/>
          </a:prstGeom>
          <a:noFill/>
        </p:spPr>
        <p:txBody>
          <a:bodyPr wrap="square">
            <a:spAutoFit/>
          </a:bodyPr>
          <a:lstStyle/>
          <a:p>
            <a:pPr algn="l">
              <a:defRPr sz="2000" b="0">
                <a:solidFill>
                  <a:srgbClr val="94A3B8"/>
                </a:solidFill>
                <a:latin typeface="Segoe UI"/>
              </a:defRPr>
            </a:pPr>
            <a:r>
              <a:t>Meanwhile, validators pay $5-10K/month in voting fees</a:t>
            </a:r>
            <a:br/>
            <a:r>
              <a:t>just to participate in the network.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IT'S NOT JUST SOLANA</a:t>
            </a:r>
          </a:p>
        </p:txBody>
      </p:sp>
      <p:sp>
        <p:nvSpPr>
          <p:cNvPr id="3" name="TextBox 2"/>
          <p:cNvSpPr txBox="1"/>
          <p:nvPr/>
        </p:nvSpPr>
        <p:spPr>
          <a:xfrm>
            <a:off x="1828800" y="1828800"/>
            <a:ext cx="10972800" cy="5486400"/>
          </a:xfrm>
          <a:prstGeom prst="rect">
            <a:avLst/>
          </a:prstGeom>
          <a:noFill/>
        </p:spPr>
        <p:txBody>
          <a:bodyPr wrap="square">
            <a:spAutoFit/>
          </a:bodyPr>
          <a:lstStyle/>
          <a:p>
            <a:pPr>
              <a:spcAft>
                <a:spcPts val="1280"/>
              </a:spcAft>
              <a:defRPr sz="3200" b="1">
                <a:solidFill>
                  <a:srgbClr val="FFFFFF"/>
                </a:solidFill>
                <a:latin typeface="Segoe UI"/>
              </a:defRPr>
            </a:pPr>
            <a:r>
              <a:t>Ripple:  ~40B XRP  →  $20-100B</a:t>
            </a:r>
          </a:p>
          <a:p>
            <a:pPr>
              <a:spcAft>
                <a:spcPts val="720"/>
              </a:spcAft>
              <a:defRPr sz="1800" b="0">
                <a:solidFill>
                  <a:srgbClr val="94A3B8"/>
                </a:solidFill>
                <a:latin typeface="Segoe UI"/>
              </a:defRPr>
            </a:pPr>
            <a:r>
              <a:t>Founders among richest people in crypto history</a:t>
            </a:r>
          </a:p>
          <a:p>
            <a:pPr>
              <a:spcAft>
                <a:spcPts val="560"/>
              </a:spcAft>
              <a:defRPr sz="1400" b="0">
                <a:solidFill>
                  <a:srgbClr val="FFFFFF"/>
                </a:solidFill>
                <a:latin typeface="Segoe UI"/>
              </a:defRPr>
            </a:pPr>
          </a:p>
          <a:p>
            <a:pPr>
              <a:spcAft>
                <a:spcPts val="1280"/>
              </a:spcAft>
              <a:defRPr sz="3200" b="1">
                <a:solidFill>
                  <a:srgbClr val="FFFFFF"/>
                </a:solidFill>
                <a:latin typeface="Segoe UI"/>
              </a:defRPr>
            </a:pPr>
            <a:r>
              <a:t>BNB:  Binance holds ~80M BNB  →  $30-50B</a:t>
            </a:r>
          </a:p>
          <a:p>
            <a:pPr>
              <a:spcAft>
                <a:spcPts val="720"/>
              </a:spcAft>
              <a:defRPr sz="1800" b="0">
                <a:solidFill>
                  <a:srgbClr val="94A3B8"/>
                </a:solidFill>
                <a:latin typeface="Segoe UI"/>
              </a:defRPr>
            </a:pPr>
            <a:r>
              <a:t>CZ became the richest person in crypto</a:t>
            </a:r>
          </a:p>
          <a:p>
            <a:pPr>
              <a:spcAft>
                <a:spcPts val="560"/>
              </a:spcAft>
              <a:defRPr sz="1400" b="0">
                <a:solidFill>
                  <a:srgbClr val="FFFFFF"/>
                </a:solidFill>
                <a:latin typeface="Segoe UI"/>
              </a:defRPr>
            </a:pPr>
          </a:p>
          <a:p>
            <a:pPr>
              <a:spcAft>
                <a:spcPts val="1280"/>
              </a:spcAft>
              <a:defRPr sz="3200" b="1">
                <a:solidFill>
                  <a:srgbClr val="FFFFFF"/>
                </a:solidFill>
                <a:latin typeface="Segoe UI"/>
              </a:defRPr>
            </a:pPr>
            <a:r>
              <a:t>Cardano:  Foundation + IOHK hold ~6B ADA  →  $2-10B</a:t>
            </a:r>
          </a:p>
          <a:p>
            <a:pPr>
              <a:spcAft>
                <a:spcPts val="720"/>
              </a:spcAft>
              <a:defRPr sz="1800" b="0">
                <a:solidFill>
                  <a:srgbClr val="94A3B8"/>
                </a:solidFill>
                <a:latin typeface="Segoe UI"/>
              </a:defRPr>
            </a:pPr>
            <a:r>
              <a:t>Charles Hoskinson: ranch, private jets</a:t>
            </a:r>
          </a:p>
          <a:p>
            <a:pPr>
              <a:spcAft>
                <a:spcPts val="560"/>
              </a:spcAft>
              <a:defRPr sz="1400" b="0">
                <a:solidFill>
                  <a:srgbClr val="FFFFFF"/>
                </a:solidFill>
                <a:latin typeface="Segoe UI"/>
              </a:defRPr>
            </a:pPr>
          </a:p>
          <a:p>
            <a:pPr>
              <a:spcAft>
                <a:spcPts val="1280"/>
              </a:spcAft>
              <a:defRPr sz="3200" b="1">
                <a:solidFill>
                  <a:srgbClr val="FFFFFF"/>
                </a:solidFill>
                <a:latin typeface="Segoe UI"/>
              </a:defRPr>
            </a:pPr>
            <a:r>
              <a:t>Avalanche:  Foundation holds ~270M AVAX  →  $3-15B</a:t>
            </a:r>
          </a:p>
          <a:p>
            <a:pPr>
              <a:spcAft>
                <a:spcPts val="720"/>
              </a:spcAft>
              <a:defRPr sz="1800" b="0">
                <a:solidFill>
                  <a:srgbClr val="94A3B8"/>
                </a:solidFill>
                <a:latin typeface="Segoe UI"/>
              </a:defRPr>
            </a:pPr>
            <a:r>
              <a:t>Token sale raised $60M in hours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THE VC PLAYBOOK</a:t>
            </a:r>
          </a:p>
        </p:txBody>
      </p:sp>
      <p:sp>
        <p:nvSpPr>
          <p:cNvPr id="3" name="TextBox 2"/>
          <p:cNvSpPr txBox="1"/>
          <p:nvPr/>
        </p:nvSpPr>
        <p:spPr>
          <a:xfrm>
            <a:off x="1828800" y="2286000"/>
            <a:ext cx="10972800" cy="914400"/>
          </a:xfrm>
          <a:prstGeom prst="rect">
            <a:avLst/>
          </a:prstGeom>
          <a:noFill/>
        </p:spPr>
        <p:txBody>
          <a:bodyPr wrap="square">
            <a:spAutoFit/>
          </a:bodyPr>
          <a:lstStyle/>
          <a:p>
            <a:pPr algn="l">
              <a:defRPr sz="3200" b="1">
                <a:solidFill>
                  <a:srgbClr val="FFFFFF"/>
                </a:solidFill>
                <a:latin typeface="Segoe UI"/>
              </a:defRPr>
            </a:pPr>
            <a:r>
              <a:t>Why crypto VCs only fund token projects:</a:t>
            </a:r>
          </a:p>
        </p:txBody>
      </p:sp>
      <p:sp>
        <p:nvSpPr>
          <p:cNvPr id="4" name="Rounded Rectangle 3"/>
          <p:cNvSpPr/>
          <p:nvPr/>
        </p:nvSpPr>
        <p:spPr>
          <a:xfrm>
            <a:off x="1828800" y="3657600"/>
            <a:ext cx="50292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103120" y="3749039"/>
            <a:ext cx="4572000" cy="457200"/>
          </a:xfrm>
          <a:prstGeom prst="rect">
            <a:avLst/>
          </a:prstGeom>
          <a:noFill/>
        </p:spPr>
        <p:txBody>
          <a:bodyPr wrap="square">
            <a:spAutoFit/>
          </a:bodyPr>
          <a:lstStyle/>
          <a:p>
            <a:pPr algn="l">
              <a:defRPr sz="1600" b="1">
                <a:solidFill>
                  <a:srgbClr val="F87171"/>
                </a:solidFill>
                <a:latin typeface="Segoe UI"/>
              </a:defRPr>
            </a:pPr>
            <a:r>
              <a:t>TOKEN PROJECT</a:t>
            </a:r>
          </a:p>
        </p:txBody>
      </p:sp>
      <p:sp>
        <p:nvSpPr>
          <p:cNvPr id="6" name="TextBox 5"/>
          <p:cNvSpPr txBox="1"/>
          <p:nvPr/>
        </p:nvSpPr>
        <p:spPr>
          <a:xfrm>
            <a:off x="2103120" y="4297680"/>
            <a:ext cx="4572000" cy="2011680"/>
          </a:xfrm>
          <a:prstGeom prst="rect">
            <a:avLst/>
          </a:prstGeom>
          <a:noFill/>
        </p:spPr>
        <p:txBody>
          <a:bodyPr wrap="square">
            <a:spAutoFit/>
          </a:bodyPr>
          <a:lstStyle/>
          <a:p>
            <a:pPr>
              <a:spcAft>
                <a:spcPts val="880"/>
              </a:spcAft>
              <a:defRPr sz="2200" b="0">
                <a:solidFill>
                  <a:srgbClr val="FFFFFF"/>
                </a:solidFill>
                <a:latin typeface="Segoe UI"/>
              </a:defRPr>
            </a:pPr>
            <a:r>
              <a:t>Invest $10M</a:t>
            </a:r>
          </a:p>
          <a:p>
            <a:pPr>
              <a:spcAft>
                <a:spcPts val="880"/>
              </a:spcAft>
              <a:defRPr sz="2200" b="0">
                <a:solidFill>
                  <a:srgbClr val="FFFFFF"/>
                </a:solidFill>
                <a:latin typeface="Segoe UI"/>
              </a:defRPr>
            </a:pPr>
            <a:r>
              <a:t>Get tokens at discount</a:t>
            </a:r>
          </a:p>
          <a:p>
            <a:pPr>
              <a:spcAft>
                <a:spcPts val="880"/>
              </a:spcAft>
              <a:defRPr sz="2200" b="0">
                <a:solidFill>
                  <a:srgbClr val="FFFFFF"/>
                </a:solidFill>
                <a:latin typeface="Segoe UI"/>
              </a:defRPr>
            </a:pPr>
            <a:r>
              <a:t>Token launches, pumps</a:t>
            </a:r>
          </a:p>
          <a:p>
            <a:pPr>
              <a:spcAft>
                <a:spcPts val="1040"/>
              </a:spcAft>
              <a:defRPr sz="2600" b="1">
                <a:solidFill>
                  <a:srgbClr val="F87171"/>
                </a:solidFill>
                <a:latin typeface="Segoe UI"/>
              </a:defRPr>
            </a:pPr>
            <a:r>
              <a:t>Sell for $100M</a:t>
            </a:r>
          </a:p>
          <a:p>
            <a:pPr>
              <a:spcAft>
                <a:spcPts val="720"/>
              </a:spcAft>
              <a:defRPr sz="1800" b="0">
                <a:solidFill>
                  <a:srgbClr val="F87171"/>
                </a:solidFill>
                <a:latin typeface="Segoe UI"/>
              </a:defRPr>
            </a:pPr>
            <a:r>
              <a:t>6-12 months</a:t>
            </a:r>
          </a:p>
        </p:txBody>
      </p:sp>
      <p:sp>
        <p:nvSpPr>
          <p:cNvPr id="7" name="Rounded Rectangle 6"/>
          <p:cNvSpPr/>
          <p:nvPr/>
        </p:nvSpPr>
        <p:spPr>
          <a:xfrm>
            <a:off x="7772400" y="3657600"/>
            <a:ext cx="50292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3749039"/>
            <a:ext cx="4572000" cy="457200"/>
          </a:xfrm>
          <a:prstGeom prst="rect">
            <a:avLst/>
          </a:prstGeom>
          <a:noFill/>
        </p:spPr>
        <p:txBody>
          <a:bodyPr wrap="square">
            <a:spAutoFit/>
          </a:bodyPr>
          <a:lstStyle/>
          <a:p>
            <a:pPr algn="l">
              <a:defRPr sz="1600" b="1">
                <a:solidFill>
                  <a:srgbClr val="34D399"/>
                </a:solidFill>
                <a:latin typeface="Segoe UI"/>
              </a:defRPr>
            </a:pPr>
            <a:r>
              <a:t>REAL COMPANY</a:t>
            </a:r>
          </a:p>
        </p:txBody>
      </p:sp>
      <p:sp>
        <p:nvSpPr>
          <p:cNvPr id="9" name="TextBox 8"/>
          <p:cNvSpPr txBox="1"/>
          <p:nvPr/>
        </p:nvSpPr>
        <p:spPr>
          <a:xfrm>
            <a:off x="8046720" y="4297680"/>
            <a:ext cx="4572000" cy="2011680"/>
          </a:xfrm>
          <a:prstGeom prst="rect">
            <a:avLst/>
          </a:prstGeom>
          <a:noFill/>
        </p:spPr>
        <p:txBody>
          <a:bodyPr wrap="square">
            <a:spAutoFit/>
          </a:bodyPr>
          <a:lstStyle/>
          <a:p>
            <a:pPr>
              <a:spcAft>
                <a:spcPts val="880"/>
              </a:spcAft>
              <a:defRPr sz="2200" b="0">
                <a:solidFill>
                  <a:srgbClr val="FFFFFF"/>
                </a:solidFill>
                <a:latin typeface="Segoe UI"/>
              </a:defRPr>
            </a:pPr>
            <a:r>
              <a:t>Invest $5M for equity</a:t>
            </a:r>
          </a:p>
          <a:p>
            <a:pPr>
              <a:spcAft>
                <a:spcPts val="880"/>
              </a:spcAft>
              <a:defRPr sz="2200" b="0">
                <a:solidFill>
                  <a:srgbClr val="FFFFFF"/>
                </a:solidFill>
                <a:latin typeface="Segoe UI"/>
              </a:defRPr>
            </a:pPr>
            <a:r>
              <a:t>Build product, get users</a:t>
            </a:r>
          </a:p>
          <a:p>
            <a:pPr>
              <a:spcAft>
                <a:spcPts val="880"/>
              </a:spcAft>
              <a:defRPr sz="2200" b="0">
                <a:solidFill>
                  <a:srgbClr val="FFFFFF"/>
                </a:solidFill>
                <a:latin typeface="Segoe UI"/>
              </a:defRPr>
            </a:pPr>
            <a:r>
              <a:t>Grow revenue over years</a:t>
            </a:r>
          </a:p>
          <a:p>
            <a:pPr>
              <a:spcAft>
                <a:spcPts val="1040"/>
              </a:spcAft>
              <a:defRPr sz="2600" b="1">
                <a:solidFill>
                  <a:srgbClr val="34D399"/>
                </a:solidFill>
                <a:latin typeface="Segoe UI"/>
              </a:defRPr>
            </a:pPr>
            <a:r>
              <a:t>Exit at $100M</a:t>
            </a:r>
          </a:p>
          <a:p>
            <a:pPr>
              <a:spcAft>
                <a:spcPts val="720"/>
              </a:spcAft>
              <a:defRPr sz="1800" b="0">
                <a:solidFill>
                  <a:srgbClr val="34D399"/>
                </a:solidFill>
                <a:latin typeface="Segoe UI"/>
              </a:defRPr>
            </a:pPr>
            <a:r>
              <a:t>5-7 years</a:t>
            </a:r>
          </a:p>
        </p:txBody>
      </p:sp>
      <p:sp>
        <p:nvSpPr>
          <p:cNvPr id="10" name="TextBox 9"/>
          <p:cNvSpPr txBox="1"/>
          <p:nvPr/>
        </p:nvSpPr>
        <p:spPr>
          <a:xfrm>
            <a:off x="1828800" y="7132320"/>
            <a:ext cx="10972800" cy="548640"/>
          </a:xfrm>
          <a:prstGeom prst="rect">
            <a:avLst/>
          </a:prstGeom>
          <a:noFill/>
        </p:spPr>
        <p:txBody>
          <a:bodyPr wrap="square">
            <a:spAutoFit/>
          </a:bodyPr>
          <a:lstStyle/>
          <a:p>
            <a:pPr algn="ctr">
              <a:defRPr sz="2200" b="0">
                <a:solidFill>
                  <a:srgbClr val="FBBF24"/>
                </a:solidFill>
                <a:latin typeface="Segoe UI"/>
              </a:defRPr>
            </a:pPr>
            <a:r>
              <a:t>Same returns. One takes 6 months. Guess which one gets funded.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"DECENTRALIZATION"</a:t>
            </a:r>
          </a:p>
        </p:txBody>
      </p:sp>
      <p:sp>
        <p:nvSpPr>
          <p:cNvPr id="3" name="TextBox 2"/>
          <p:cNvSpPr txBox="1"/>
          <p:nvPr/>
        </p:nvSpPr>
        <p:spPr>
          <a:xfrm>
            <a:off x="1828800" y="1828800"/>
            <a:ext cx="10972800" cy="1371600"/>
          </a:xfrm>
          <a:prstGeom prst="rect">
            <a:avLst/>
          </a:prstGeom>
          <a:noFill/>
        </p:spPr>
        <p:txBody>
          <a:bodyPr wrap="square">
            <a:spAutoFit/>
          </a:bodyPr>
          <a:lstStyle/>
          <a:p>
            <a:pPr algn="l">
              <a:defRPr sz="4800" b="1">
                <a:solidFill>
                  <a:srgbClr val="FFFFFF"/>
                </a:solidFill>
                <a:latin typeface="Segoe UI"/>
              </a:defRPr>
            </a:pPr>
            <a:r>
              <a:t>The word that stops</a:t>
            </a:r>
            <a:br/>
            <a:r>
              <a:t>all questions.</a:t>
            </a:r>
          </a:p>
        </p:txBody>
      </p:sp>
      <p:sp>
        <p:nvSpPr>
          <p:cNvPr id="4" name="TextBox 3"/>
          <p:cNvSpPr txBox="1"/>
          <p:nvPr/>
        </p:nvSpPr>
        <p:spPr>
          <a:xfrm>
            <a:off x="1828800" y="4572000"/>
            <a:ext cx="10972800" cy="2743200"/>
          </a:xfrm>
          <a:prstGeom prst="rect">
            <a:avLst/>
          </a:prstGeom>
          <a:noFill/>
        </p:spPr>
        <p:txBody>
          <a:bodyPr wrap="square">
            <a:spAutoFit/>
          </a:bodyPr>
          <a:lstStyle/>
          <a:p>
            <a:pPr>
              <a:spcAft>
                <a:spcPts val="960"/>
              </a:spcAft>
              <a:defRPr sz="2400" b="0">
                <a:solidFill>
                  <a:srgbClr val="94A3B8"/>
                </a:solidFill>
                <a:latin typeface="Segoe UI"/>
              </a:defRPr>
            </a:pPr>
            <a:r>
              <a:t>"Why are fees so high?"</a:t>
            </a:r>
          </a:p>
          <a:p>
            <a:pPr>
              <a:spcAft>
                <a:spcPts val="960"/>
              </a:spcAft>
              <a:defRPr sz="2400" b="0">
                <a:solidFill>
                  <a:srgbClr val="F87171"/>
                </a:solidFill>
                <a:latin typeface="Segoe UI"/>
              </a:defRPr>
            </a:pPr>
            <a:r>
              <a:t>"Decentralization costs money."</a:t>
            </a:r>
          </a:p>
          <a:p>
            <a:pPr>
              <a:spcAft>
                <a:spcPts val="560"/>
              </a:spcAft>
              <a:defRPr sz="1400" b="0">
                <a:solidFill>
                  <a:srgbClr val="FFFFFF"/>
                </a:solidFill>
                <a:latin typeface="Segoe UI"/>
              </a:defRPr>
            </a:pPr>
          </a:p>
          <a:p>
            <a:pPr>
              <a:spcAft>
                <a:spcPts val="960"/>
              </a:spcAft>
              <a:defRPr sz="2400" b="0">
                <a:solidFill>
                  <a:srgbClr val="94A3B8"/>
                </a:solidFill>
                <a:latin typeface="Segoe UI"/>
              </a:defRPr>
            </a:pPr>
            <a:r>
              <a:t>"Why do I need a token?"</a:t>
            </a:r>
          </a:p>
          <a:p>
            <a:pPr>
              <a:spcAft>
                <a:spcPts val="960"/>
              </a:spcAft>
              <a:defRPr sz="2400" b="0">
                <a:solidFill>
                  <a:srgbClr val="F87171"/>
                </a:solidFill>
                <a:latin typeface="Segoe UI"/>
              </a:defRPr>
            </a:pPr>
            <a:r>
              <a:t>"Decentralization requires incentives."</a:t>
            </a:r>
          </a:p>
          <a:p>
            <a:pPr>
              <a:spcAft>
                <a:spcPts val="560"/>
              </a:spcAft>
              <a:defRPr sz="1400" b="0">
                <a:solidFill>
                  <a:srgbClr val="FFFFFF"/>
                </a:solidFill>
                <a:latin typeface="Segoe UI"/>
              </a:defRPr>
            </a:pPr>
          </a:p>
          <a:p>
            <a:pPr>
              <a:spcAft>
                <a:spcPts val="960"/>
              </a:spcAft>
              <a:defRPr sz="2400" b="0">
                <a:solidFill>
                  <a:srgbClr val="94A3B8"/>
                </a:solidFill>
                <a:latin typeface="Segoe UI"/>
              </a:defRPr>
            </a:pPr>
            <a:r>
              <a:t>"Why can't you just run the servers?"</a:t>
            </a:r>
          </a:p>
          <a:p>
            <a:pPr>
              <a:spcAft>
                <a:spcPts val="960"/>
              </a:spcAft>
              <a:defRPr sz="2400" b="0">
                <a:solidFill>
                  <a:srgbClr val="F87171"/>
                </a:solidFill>
                <a:latin typeface="Segoe UI"/>
              </a:defRPr>
            </a:pPr>
            <a:r>
              <a:t>"That would be centralized."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HOW 'DECENTRALIZED' ARE THEY REALLY?</a:t>
            </a:r>
          </a:p>
        </p:txBody>
      </p:sp>
      <p:sp>
        <p:nvSpPr>
          <p:cNvPr id="3" name="TextBox 2"/>
          <p:cNvSpPr txBox="1"/>
          <p:nvPr/>
        </p:nvSpPr>
        <p:spPr>
          <a:xfrm>
            <a:off x="1828800" y="1828800"/>
            <a:ext cx="10972800" cy="5943600"/>
          </a:xfrm>
          <a:prstGeom prst="rect">
            <a:avLst/>
          </a:prstGeom>
          <a:noFill/>
        </p:spPr>
        <p:txBody>
          <a:bodyPr wrap="square">
            <a:spAutoFit/>
          </a:bodyPr>
          <a:lstStyle/>
          <a:p>
            <a:pPr>
              <a:spcAft>
                <a:spcPts val="1120"/>
              </a:spcAft>
              <a:defRPr sz="2800" b="1">
                <a:solidFill>
                  <a:srgbClr val="60A5FA"/>
                </a:solidFill>
                <a:latin typeface="Segoe UI"/>
              </a:defRPr>
            </a:pPr>
            <a:r>
              <a:t>Base</a:t>
            </a:r>
          </a:p>
          <a:p>
            <a:pPr>
              <a:spcAft>
                <a:spcPts val="800"/>
              </a:spcAft>
              <a:defRPr sz="2000" b="0">
                <a:solidFill>
                  <a:srgbClr val="94A3B8"/>
                </a:solidFill>
                <a:latin typeface="Segoe UI"/>
              </a:defRPr>
            </a:pPr>
            <a:r>
              <a:t>ONE sequencer. Run by Coinbase. Still charges gas in ETH.</a:t>
            </a:r>
          </a:p>
          <a:p>
            <a:pPr>
              <a:spcAft>
                <a:spcPts val="480"/>
              </a:spcAft>
              <a:defRPr sz="1200" b="0">
                <a:solidFill>
                  <a:srgbClr val="FFFFFF"/>
                </a:solidFill>
                <a:latin typeface="Segoe UI"/>
              </a:defRPr>
            </a:pPr>
          </a:p>
          <a:p>
            <a:pPr>
              <a:spcAft>
                <a:spcPts val="1120"/>
              </a:spcAft>
              <a:defRPr sz="2800" b="1">
                <a:solidFill>
                  <a:srgbClr val="FBBF24"/>
                </a:solidFill>
                <a:latin typeface="Segoe UI"/>
              </a:defRPr>
            </a:pPr>
            <a:r>
              <a:t>BSC</a:t>
            </a:r>
          </a:p>
          <a:p>
            <a:pPr>
              <a:spcAft>
                <a:spcPts val="800"/>
              </a:spcAft>
              <a:defRPr sz="2000" b="0">
                <a:solidFill>
                  <a:srgbClr val="94A3B8"/>
                </a:solidFill>
                <a:latin typeface="Segoe UI"/>
              </a:defRPr>
            </a:pPr>
            <a:r>
              <a:t>21 validators. Binance controls enough BNB to select all of them.</a:t>
            </a:r>
          </a:p>
          <a:p>
            <a:pPr>
              <a:spcAft>
                <a:spcPts val="480"/>
              </a:spcAft>
              <a:defRPr sz="1200" b="0">
                <a:solidFill>
                  <a:srgbClr val="FFFFFF"/>
                </a:solidFill>
                <a:latin typeface="Segoe UI"/>
              </a:defRPr>
            </a:pPr>
          </a:p>
          <a:p>
            <a:pPr>
              <a:spcAft>
                <a:spcPts val="1120"/>
              </a:spcAft>
              <a:defRPr sz="2800" b="1">
                <a:solidFill>
                  <a:srgbClr val="F87171"/>
                </a:solidFill>
                <a:latin typeface="Segoe UI"/>
              </a:defRPr>
            </a:pPr>
            <a:r>
              <a:t>Solana</a:t>
            </a:r>
          </a:p>
          <a:p>
            <a:pPr>
              <a:spcAft>
                <a:spcPts val="800"/>
              </a:spcAft>
              <a:defRPr sz="2000" b="0">
                <a:solidFill>
                  <a:srgbClr val="94A3B8"/>
                </a:solidFill>
                <a:latin typeface="Segoe UI"/>
              </a:defRPr>
            </a:pPr>
            <a:r>
              <a:t>Top 19 validators control the halt threshold. Chain halted 10+ times.</a:t>
            </a:r>
          </a:p>
          <a:p>
            <a:pPr>
              <a:spcAft>
                <a:spcPts val="800"/>
              </a:spcAft>
              <a:defRPr sz="2000" b="0">
                <a:solidFill>
                  <a:srgbClr val="94A3B8"/>
                </a:solidFill>
                <a:latin typeface="Segoe UI"/>
              </a:defRPr>
            </a:pPr>
            <a:r>
              <a:t>Centralized restart every time.</a:t>
            </a:r>
          </a:p>
          <a:p>
            <a:pPr>
              <a:spcAft>
                <a:spcPts val="480"/>
              </a:spcAft>
              <a:defRPr sz="1200" b="0">
                <a:solidFill>
                  <a:srgbClr val="FFFFFF"/>
                </a:solidFill>
                <a:latin typeface="Segoe UI"/>
              </a:defRPr>
            </a:pPr>
          </a:p>
          <a:p>
            <a:pPr>
              <a:spcAft>
                <a:spcPts val="1120"/>
              </a:spcAft>
              <a:defRPr sz="2800" b="1">
                <a:solidFill>
                  <a:srgbClr val="FBBF24"/>
                </a:solidFill>
                <a:latin typeface="Segoe UI"/>
              </a:defRPr>
            </a:pPr>
            <a:r>
              <a:t>Polygon</a:t>
            </a:r>
          </a:p>
          <a:p>
            <a:pPr>
              <a:spcAft>
                <a:spcPts val="800"/>
              </a:spcAft>
              <a:defRPr sz="2000" b="0">
                <a:solidFill>
                  <a:srgbClr val="94A3B8"/>
                </a:solidFill>
                <a:latin typeface="Segoe UI"/>
              </a:defRPr>
            </a:pPr>
            <a:r>
              <a:t>~100 validators. Multisig of known insiders can override the chain.</a:t>
            </a:r>
          </a:p>
          <a:p>
            <a:pPr>
              <a:spcAft>
                <a:spcPts val="480"/>
              </a:spcAft>
              <a:defRPr sz="1200" b="0">
                <a:solidFill>
                  <a:srgbClr val="FFFFFF"/>
                </a:solidFill>
                <a:latin typeface="Segoe UI"/>
              </a:defRPr>
            </a:pPr>
          </a:p>
          <a:p>
            <a:pPr>
              <a:spcAft>
                <a:spcPts val="800"/>
              </a:spcAft>
              <a:defRPr sz="2000" b="1">
                <a:solidFill>
                  <a:srgbClr val="F87171"/>
                </a:solidFill>
                <a:latin typeface="Segoe UI"/>
              </a:defRPr>
            </a:pPr>
            <a:r>
              <a:t>Lido controls 28% of all staked ETH on Ethereum.</a:t>
            </a:r>
          </a:p>
          <a:p>
            <a:pPr>
              <a:spcAft>
                <a:spcPts val="800"/>
              </a:spcAft>
              <a:defRPr sz="2000" b="0">
                <a:solidFill>
                  <a:srgbClr val="F87171"/>
                </a:solidFill>
                <a:latin typeface="Segoe UI"/>
              </a:defRPr>
            </a:pPr>
            <a:r>
              <a:t>One company. 28% of the 'decentralized'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MEV: VALIDATORS STEAL FROM USERS</a:t>
            </a:r>
          </a:p>
        </p:txBody>
      </p:sp>
      <p:sp>
        <p:nvSpPr>
          <p:cNvPr id="3" name="TextBox 2"/>
          <p:cNvSpPr txBox="1"/>
          <p:nvPr/>
        </p:nvSpPr>
        <p:spPr>
          <a:xfrm>
            <a:off x="1828800" y="2286000"/>
            <a:ext cx="10972800" cy="914400"/>
          </a:xfrm>
          <a:prstGeom prst="rect">
            <a:avLst/>
          </a:prstGeom>
          <a:noFill/>
        </p:spPr>
        <p:txBody>
          <a:bodyPr wrap="square">
            <a:spAutoFit/>
          </a:bodyPr>
          <a:lstStyle/>
          <a:p>
            <a:pPr algn="l">
              <a:defRPr sz="3200" b="1">
                <a:solidFill>
                  <a:srgbClr val="FFFFFF"/>
                </a:solidFill>
                <a:latin typeface="Segoe UI"/>
              </a:defRPr>
            </a:pPr>
            <a:r>
              <a:t>The people 'securing' your transactions</a:t>
            </a:r>
            <a:br/>
            <a:r>
              <a:t>are also front-running them.</a:t>
            </a:r>
          </a:p>
        </p:txBody>
      </p:sp>
      <p:sp>
        <p:nvSpPr>
          <p:cNvPr id="4" name="TextBox 3"/>
          <p:cNvSpPr txBox="1"/>
          <p:nvPr/>
        </p:nvSpPr>
        <p:spPr>
          <a:xfrm>
            <a:off x="1828800" y="4572000"/>
            <a:ext cx="10972800" cy="2743200"/>
          </a:xfrm>
          <a:prstGeom prst="rect">
            <a:avLst/>
          </a:prstGeom>
          <a:noFill/>
        </p:spPr>
        <p:txBody>
          <a:bodyPr wrap="square">
            <a:spAutoFit/>
          </a:bodyPr>
          <a:lstStyle/>
          <a:p>
            <a:pPr>
              <a:spcAft>
                <a:spcPts val="960"/>
              </a:spcAft>
              <a:defRPr sz="2400" b="0">
                <a:solidFill>
                  <a:srgbClr val="FFFFFF"/>
                </a:solidFill>
                <a:latin typeface="Segoe UI"/>
              </a:defRPr>
            </a:pPr>
            <a:r>
              <a:t>You submit a swap: buy Token X for $1,000</a:t>
            </a:r>
          </a:p>
          <a:p>
            <a:pPr>
              <a:spcAft>
                <a:spcPts val="960"/>
              </a:spcAft>
              <a:defRPr sz="2400" b="1">
                <a:solidFill>
                  <a:srgbClr val="F87171"/>
                </a:solidFill>
                <a:latin typeface="Segoe UI"/>
              </a:defRPr>
            </a:pPr>
            <a:r>
              <a:t>Validator sees it, buys Token X first</a:t>
            </a:r>
          </a:p>
          <a:p>
            <a:pPr>
              <a:spcAft>
                <a:spcPts val="960"/>
              </a:spcAft>
              <a:defRPr sz="2400" b="0">
                <a:solidFill>
                  <a:srgbClr val="F87171"/>
                </a:solidFill>
                <a:latin typeface="Segoe UI"/>
              </a:defRPr>
            </a:pPr>
            <a:r>
              <a:t>Your swap executes at a higher price</a:t>
            </a:r>
          </a:p>
          <a:p>
            <a:pPr>
              <a:spcAft>
                <a:spcPts val="960"/>
              </a:spcAft>
              <a:defRPr sz="2400" b="1">
                <a:solidFill>
                  <a:srgbClr val="F87171"/>
                </a:solidFill>
                <a:latin typeface="Segoe UI"/>
              </a:defRPr>
            </a:pPr>
            <a:r>
              <a:t>Validator sells for instant profit</a:t>
            </a:r>
          </a:p>
          <a:p>
            <a:pPr>
              <a:spcAft>
                <a:spcPts val="480"/>
              </a:spcAft>
              <a:defRPr sz="1200" b="0">
                <a:solidFill>
                  <a:srgbClr val="FFFFFF"/>
                </a:solidFill>
                <a:latin typeface="Segoe UI"/>
              </a:defRPr>
            </a:pPr>
          </a:p>
          <a:p>
            <a:pPr>
              <a:spcAft>
                <a:spcPts val="1120"/>
              </a:spcAft>
              <a:defRPr sz="2800" b="1">
                <a:solidFill>
                  <a:srgbClr val="FBBF24"/>
                </a:solidFill>
                <a:latin typeface="Segoe UI"/>
              </a:defRPr>
            </a:pPr>
            <a:r>
              <a:t>$600M+ extracted from Ethereum users to date.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THE MOST ABSURD PART</a:t>
            </a:r>
          </a:p>
        </p:txBody>
      </p:sp>
      <p:sp>
        <p:nvSpPr>
          <p:cNvPr id="3" name="TextBox 2"/>
          <p:cNvSpPr txBox="1"/>
          <p:nvPr/>
        </p:nvSpPr>
        <p:spPr>
          <a:xfrm>
            <a:off x="1828800" y="2286000"/>
            <a:ext cx="10972800" cy="2286000"/>
          </a:xfrm>
          <a:prstGeom prst="rect">
            <a:avLst/>
          </a:prstGeom>
          <a:noFill/>
        </p:spPr>
        <p:txBody>
          <a:bodyPr wrap="square">
            <a:spAutoFit/>
          </a:bodyPr>
          <a:lstStyle/>
          <a:p>
            <a:pPr algn="l">
              <a:defRPr sz="5200" b="1">
                <a:solidFill>
                  <a:srgbClr val="FFFFFF"/>
                </a:solidFill>
                <a:latin typeface="Segoe UI"/>
              </a:defRPr>
            </a:pPr>
            <a:r>
              <a:t>Your transaction fails.</a:t>
            </a:r>
            <a:br/>
            <a:r>
              <a:t>You still pay the fee.</a:t>
            </a:r>
          </a:p>
        </p:txBody>
      </p:sp>
      <p:sp>
        <p:nvSpPr>
          <p:cNvPr id="4" name="TextBox 3"/>
          <p:cNvSpPr txBox="1"/>
          <p:nvPr/>
        </p:nvSpPr>
        <p:spPr>
          <a:xfrm>
            <a:off x="1828800" y="5486400"/>
            <a:ext cx="10972800" cy="1371600"/>
          </a:xfrm>
          <a:prstGeom prst="rect">
            <a:avLst/>
          </a:prstGeom>
          <a:noFill/>
        </p:spPr>
        <p:txBody>
          <a:bodyPr wrap="square">
            <a:spAutoFit/>
          </a:bodyPr>
          <a:lstStyle/>
          <a:p>
            <a:pPr algn="ctr">
              <a:defRPr sz="2800" b="0">
                <a:solidFill>
                  <a:srgbClr val="94A3B8"/>
                </a:solidFill>
                <a:latin typeface="Segoe UI"/>
              </a:defRPr>
            </a:pPr>
            <a:r>
              <a:t>Imagine ordering food at a restaurant.</a:t>
            </a:r>
            <a:br/>
            <a:r>
              <a:t>The kitchen burns it.</a:t>
            </a:r>
            <a:br/>
            <a:r>
              <a:t>They charge you anyway.</a:t>
            </a:r>
          </a:p>
        </p:txBody>
      </p:sp>
      <p:sp>
        <p:nvSpPr>
          <p:cNvPr id="5" name="TextBox 4"/>
          <p:cNvSpPr txBox="1"/>
          <p:nvPr/>
        </p:nvSpPr>
        <p:spPr>
          <a:xfrm>
            <a:off x="1828800" y="7498079"/>
            <a:ext cx="10972800" cy="548640"/>
          </a:xfrm>
          <a:prstGeom prst="rect">
            <a:avLst/>
          </a:prstGeom>
          <a:noFill/>
        </p:spPr>
        <p:txBody>
          <a:bodyPr wrap="square">
            <a:spAutoFit/>
          </a:bodyPr>
          <a:lstStyle/>
          <a:p>
            <a:pPr algn="l">
              <a:defRPr sz="2000" b="0">
                <a:solidFill>
                  <a:srgbClr val="FBBF24"/>
                </a:solidFill>
                <a:latin typeface="Segoe UI"/>
              </a:defRPr>
            </a:pPr>
            <a:r>
              <a:t>The industry says: "The validators still did 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WHAT REAL PEOPLE EXPERIENCE</a:t>
            </a:r>
          </a:p>
        </p:txBody>
      </p:sp>
      <p:sp>
        <p:nvSpPr>
          <p:cNvPr id="3" name="TextBox 2"/>
          <p:cNvSpPr txBox="1"/>
          <p:nvPr/>
        </p:nvSpPr>
        <p:spPr>
          <a:xfrm>
            <a:off x="1828800" y="1645920"/>
            <a:ext cx="10972800" cy="731520"/>
          </a:xfrm>
          <a:prstGeom prst="rect">
            <a:avLst/>
          </a:prstGeom>
          <a:noFill/>
        </p:spPr>
        <p:txBody>
          <a:bodyPr wrap="square">
            <a:spAutoFit/>
          </a:bodyPr>
          <a:lstStyle/>
          <a:p>
            <a:pPr algn="l">
              <a:defRPr sz="2800" b="0">
                <a:solidFill>
                  <a:srgbClr val="FFFFFF"/>
                </a:solidFill>
                <a:latin typeface="Segoe UI"/>
              </a:defRPr>
            </a:pPr>
            <a:r>
              <a:t>"I want to send $10 in USDC to my friend"</a:t>
            </a:r>
          </a:p>
        </p:txBody>
      </p:sp>
      <p:sp>
        <p:nvSpPr>
          <p:cNvPr id="4" name="TextBox 3"/>
          <p:cNvSpPr txBox="1"/>
          <p:nvPr/>
        </p:nvSpPr>
        <p:spPr>
          <a:xfrm>
            <a:off x="1828800" y="2743200"/>
            <a:ext cx="10972800" cy="5029200"/>
          </a:xfrm>
          <a:prstGeom prst="rect">
            <a:avLst/>
          </a:prstGeom>
          <a:noFill/>
        </p:spPr>
        <p:txBody>
          <a:bodyPr wrap="square">
            <a:spAutoFit/>
          </a:bodyPr>
          <a:lstStyle/>
          <a:p>
            <a:pPr>
              <a:spcAft>
                <a:spcPts val="880"/>
              </a:spcAft>
              <a:defRPr sz="2200" b="0">
                <a:solidFill>
                  <a:srgbClr val="CBD5E1"/>
                </a:solidFill>
                <a:latin typeface="Segoe UI"/>
              </a:defRPr>
            </a:pPr>
            <a:r>
              <a:t>1.  Wait, I need ETH for gas? What's ETH?</a:t>
            </a:r>
          </a:p>
          <a:p>
            <a:pPr>
              <a:spcAft>
                <a:spcPts val="880"/>
              </a:spcAft>
              <a:defRPr sz="2200" b="0">
                <a:solidFill>
                  <a:srgbClr val="CBD5E1"/>
                </a:solidFill>
                <a:latin typeface="Segoe UI"/>
              </a:defRPr>
            </a:pPr>
            <a:r>
              <a:t>2.  I have to buy ETH on an exchange first?</a:t>
            </a:r>
          </a:p>
          <a:p>
            <a:pPr>
              <a:spcAft>
                <a:spcPts val="880"/>
              </a:spcAft>
              <a:defRPr sz="2200" b="0">
                <a:solidFill>
                  <a:srgbClr val="FBBF24"/>
                </a:solidFill>
                <a:latin typeface="Segoe UI"/>
              </a:defRPr>
            </a:pPr>
            <a:r>
              <a:t>3.  KYC verification takes 3 days??</a:t>
            </a:r>
          </a:p>
          <a:p>
            <a:pPr>
              <a:spcAft>
                <a:spcPts val="880"/>
              </a:spcAft>
              <a:defRPr sz="2200" b="0">
                <a:solidFill>
                  <a:srgbClr val="FBBF24"/>
                </a:solidFill>
                <a:latin typeface="Segoe UI"/>
              </a:defRPr>
            </a:pPr>
            <a:r>
              <a:t>4.  OK I bought $20 of ETH</a:t>
            </a:r>
          </a:p>
          <a:p>
            <a:pPr>
              <a:spcAft>
                <a:spcPts val="880"/>
              </a:spcAft>
              <a:defRPr sz="2200" b="0">
                <a:solidFill>
                  <a:srgbClr val="FBBF24"/>
                </a:solidFill>
                <a:latin typeface="Segoe UI"/>
              </a:defRPr>
            </a:pPr>
            <a:r>
              <a:t>5.  I need to 'approve' USDC spending? That costs gas too?</a:t>
            </a:r>
          </a:p>
          <a:p>
            <a:pPr>
              <a:spcAft>
                <a:spcPts val="880"/>
              </a:spcAft>
              <a:defRPr sz="2200" b="0">
                <a:solidFill>
                  <a:srgbClr val="F87171"/>
                </a:solidFill>
                <a:latin typeface="Segoe UI"/>
              </a:defRPr>
            </a:pPr>
            <a:r>
              <a:t>6.  The approval cost $4</a:t>
            </a:r>
          </a:p>
          <a:p>
            <a:pPr>
              <a:spcAft>
                <a:spcPts val="880"/>
              </a:spcAft>
              <a:defRPr sz="2200" b="0">
                <a:solidFill>
                  <a:srgbClr val="F87171"/>
                </a:solidFill>
                <a:latin typeface="Segoe UI"/>
              </a:defRPr>
            </a:pPr>
            <a:r>
              <a:t>7.  Now $12 gas fee to send $10 of USDC??</a:t>
            </a:r>
          </a:p>
          <a:p>
            <a:pPr>
              <a:spcAft>
                <a:spcPts val="880"/>
              </a:spcAft>
              <a:defRPr sz="2200" b="1">
                <a:solidFill>
                  <a:srgbClr val="F87171"/>
                </a:solidFill>
                <a:latin typeface="Segoe UI"/>
              </a:defRPr>
            </a:pPr>
            <a:r>
              <a:t>8.  Transaction failed. Still charged $12.</a:t>
            </a:r>
          </a:p>
          <a:p>
            <a:pPr>
              <a:spcAft>
                <a:spcPts val="1040"/>
              </a:spcAft>
              <a:defRPr sz="2600" b="1">
                <a:solidFill>
                  <a:srgbClr val="F87171"/>
                </a:solidFill>
                <a:latin typeface="Segoe UI"/>
              </a:defRPr>
            </a:pPr>
            <a:r>
              <a:t>9.  I'm going back to Venmo.</a:t>
            </a:r>
          </a:p>
        </p:txBody>
      </p:sp>
      <p:sp>
        <p:nvSpPr>
          <p:cNvPr id="5" name="TextBox 4"/>
          <p:cNvSpPr txBox="1"/>
          <p:nvPr/>
        </p:nvSpPr>
        <p:spPr>
          <a:xfrm>
            <a:off x="1828800" y="7589520"/>
            <a:ext cx="10972800" cy="457200"/>
          </a:xfrm>
          <a:prstGeom prst="rect">
            <a:avLst/>
          </a:prstGeom>
          <a:noFill/>
        </p:spPr>
        <p:txBody>
          <a:bodyPr wrap="square">
            <a:spAutoFit/>
          </a:bodyPr>
          <a:lstStyle/>
          <a:p>
            <a:pPr algn="ctr">
              <a:defRPr sz="2000" b="1">
                <a:solidFill>
                  <a:srgbClr val="FBBF24"/>
                </a:solidFill>
                <a:latin typeface="Segoe UI"/>
              </a:defRPr>
            </a:pPr>
            <a:r>
              <a:t>400 million crypto wallets. Almost no real-world usage. This is why.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F87171"/>
                </a:solidFill>
                <a:latin typeface="Segoe UI"/>
              </a:defRPr>
            </a:pPr>
            <a:r>
              <a:t>WHY NOBODY HAS FIXED THIS</a:t>
            </a:r>
          </a:p>
        </p:txBody>
      </p:sp>
      <p:sp>
        <p:nvSpPr>
          <p:cNvPr id="3" name="TextBox 2"/>
          <p:cNvSpPr txBox="1"/>
          <p:nvPr/>
        </p:nvSpPr>
        <p:spPr>
          <a:xfrm>
            <a:off x="1828800" y="1828800"/>
            <a:ext cx="10972800" cy="1371600"/>
          </a:xfrm>
          <a:prstGeom prst="rect">
            <a:avLst/>
          </a:prstGeom>
          <a:noFill/>
        </p:spPr>
        <p:txBody>
          <a:bodyPr wrap="square">
            <a:spAutoFit/>
          </a:bodyPr>
          <a:lstStyle/>
          <a:p>
            <a:pPr algn="l">
              <a:defRPr sz="4000" b="1">
                <a:solidFill>
                  <a:srgbClr val="FFFFFF"/>
                </a:solidFill>
                <a:latin typeface="Segoe UI"/>
              </a:defRPr>
            </a:pPr>
            <a:r>
              <a:t>Everyone who understands the problem</a:t>
            </a:r>
            <a:br/>
            <a:r>
              <a:t>profits from it.</a:t>
            </a:r>
          </a:p>
        </p:txBody>
      </p:sp>
      <p:sp>
        <p:nvSpPr>
          <p:cNvPr id="4" name="TextBox 3"/>
          <p:cNvSpPr txBox="1"/>
          <p:nvPr/>
        </p:nvSpPr>
        <p:spPr>
          <a:xfrm>
            <a:off x="1828800" y="4572000"/>
            <a:ext cx="10972800" cy="3200400"/>
          </a:xfrm>
          <a:prstGeom prst="rect">
            <a:avLst/>
          </a:prstGeom>
          <a:noFill/>
        </p:spPr>
        <p:txBody>
          <a:bodyPr wrap="square">
            <a:spAutoFit/>
          </a:bodyPr>
          <a:lstStyle/>
          <a:p>
            <a:pPr>
              <a:spcAft>
                <a:spcPts val="880"/>
              </a:spcAft>
              <a:defRPr sz="2200" b="0">
                <a:solidFill>
                  <a:srgbClr val="94A3B8"/>
                </a:solidFill>
                <a:latin typeface="Segoe UI"/>
              </a:defRPr>
            </a:pPr>
            <a:r>
              <a:t>Founders: tokens worth billions because of gas demand</a:t>
            </a:r>
          </a:p>
          <a:p>
            <a:pPr>
              <a:spcAft>
                <a:spcPts val="880"/>
              </a:spcAft>
              <a:defRPr sz="2200" b="0">
                <a:solidFill>
                  <a:srgbClr val="94A3B8"/>
                </a:solidFill>
                <a:latin typeface="Segoe UI"/>
              </a:defRPr>
            </a:pPr>
            <a:r>
              <a:t>VCs: returns depend on token price appreciation</a:t>
            </a:r>
          </a:p>
          <a:p>
            <a:pPr>
              <a:spcAft>
                <a:spcPts val="880"/>
              </a:spcAft>
              <a:defRPr sz="2200" b="0">
                <a:solidFill>
                  <a:srgbClr val="94A3B8"/>
                </a:solidFill>
                <a:latin typeface="Segoe UI"/>
              </a:defRPr>
            </a:pPr>
            <a:r>
              <a:t>Validators: income from fees + MEV + inflation</a:t>
            </a:r>
          </a:p>
          <a:p>
            <a:pPr>
              <a:spcAft>
                <a:spcPts val="880"/>
              </a:spcAft>
              <a:defRPr sz="2200" b="0">
                <a:solidFill>
                  <a:srgbClr val="94A3B8"/>
                </a:solidFill>
                <a:latin typeface="Segoe UI"/>
              </a:defRPr>
            </a:pPr>
            <a:r>
              <a:t>Exchanges: profit from users buying gas tokens</a:t>
            </a:r>
          </a:p>
          <a:p>
            <a:pPr>
              <a:spcAft>
                <a:spcPts val="880"/>
              </a:spcAft>
              <a:defRPr sz="2200" b="0">
                <a:solidFill>
                  <a:srgbClr val="94A3B8"/>
                </a:solidFill>
                <a:latin typeface="Segoe UI"/>
              </a:defRPr>
            </a:pPr>
            <a:r>
              <a:t>Developers: paid in native tokens</a:t>
            </a:r>
          </a:p>
          <a:p>
            <a:pPr>
              <a:spcAft>
                <a:spcPts val="480"/>
              </a:spcAft>
              <a:defRPr sz="1200" b="0">
                <a:solidFill>
                  <a:srgbClr val="FFFFFF"/>
                </a:solidFill>
                <a:latin typeface="Segoe UI"/>
              </a:defRPr>
            </a:pPr>
          </a:p>
          <a:p>
            <a:pPr>
              <a:spcAft>
                <a:spcPts val="960"/>
              </a:spcAft>
              <a:defRPr sz="2400" b="1">
                <a:solidFill>
                  <a:srgbClr val="FBBF24"/>
                </a:solidFill>
                <a:latin typeface="Segoe UI"/>
              </a:defRPr>
            </a:pPr>
            <a:r>
              <a:t>The entire ecosystem is aligned around keeping fees alive.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828800"/>
            <a:ext cx="10972800" cy="1828800"/>
          </a:xfrm>
          <a:prstGeom prst="rect">
            <a:avLst/>
          </a:prstGeom>
          <a:noFill/>
        </p:spPr>
        <p:txBody>
          <a:bodyPr wrap="square">
            <a:spAutoFit/>
          </a:bodyPr>
          <a:lstStyle/>
          <a:p>
            <a:pPr algn="ctr">
              <a:defRPr sz="5600" b="1">
                <a:solidFill>
                  <a:srgbClr val="FFFFFF"/>
                </a:solidFill>
                <a:latin typeface="Segoe UI"/>
              </a:defRPr>
            </a:pPr>
            <a:r>
              <a:t>What if we just...</a:t>
            </a:r>
            <a:br/>
            <a:r>
              <a:t>stopped?</a:t>
            </a:r>
          </a:p>
        </p:txBody>
      </p:sp>
      <p:sp>
        <p:nvSpPr>
          <p:cNvPr id="3" name="TextBox 2"/>
          <p:cNvSpPr txBox="1"/>
          <p:nvPr/>
        </p:nvSpPr>
        <p:spPr>
          <a:xfrm>
            <a:off x="1828800" y="5029200"/>
            <a:ext cx="10972800" cy="1828800"/>
          </a:xfrm>
          <a:prstGeom prst="rect">
            <a:avLst/>
          </a:prstGeom>
          <a:noFill/>
        </p:spPr>
        <p:txBody>
          <a:bodyPr wrap="square">
            <a:spAutoFit/>
          </a:bodyPr>
          <a:lstStyle/>
          <a:p>
            <a:pPr algn="ctr">
              <a:defRPr sz="3200" b="0">
                <a:solidFill>
                  <a:srgbClr val="34D399"/>
                </a:solidFill>
                <a:latin typeface="Segoe UI"/>
              </a:defRPr>
            </a:pPr>
            <a:r>
              <a:t>What if we stopped inventing tokens</a:t>
            </a:r>
            <a:br/>
            <a:r>
              <a:t>and just ran the servers ourselves?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731520"/>
            <a:ext cx="10972800" cy="548640"/>
          </a:xfrm>
          <a:prstGeom prst="rect">
            <a:avLst/>
          </a:prstGeom>
          <a:noFill/>
        </p:spPr>
        <p:txBody>
          <a:bodyPr wrap="square">
            <a:spAutoFit/>
          </a:bodyPr>
          <a:lstStyle/>
          <a:p>
            <a:pPr algn="l">
              <a:defRPr sz="1800" b="1">
                <a:solidFill>
                  <a:srgbClr val="34D399"/>
                </a:solidFill>
                <a:latin typeface="Segoe UI"/>
              </a:defRPr>
            </a:pPr>
            <a:r>
              <a:t>DINA NETWORK</a:t>
            </a:r>
          </a:p>
        </p:txBody>
      </p:sp>
      <p:sp>
        <p:nvSpPr>
          <p:cNvPr id="3" name="TextBox 2"/>
          <p:cNvSpPr txBox="1"/>
          <p:nvPr/>
        </p:nvSpPr>
        <p:spPr>
          <a:xfrm>
            <a:off x="1828800" y="1828800"/>
            <a:ext cx="10972800" cy="1371600"/>
          </a:xfrm>
          <a:prstGeom prst="rect">
            <a:avLst/>
          </a:prstGeom>
          <a:noFill/>
        </p:spPr>
        <p:txBody>
          <a:bodyPr wrap="square">
            <a:spAutoFit/>
          </a:bodyPr>
          <a:lstStyle/>
          <a:p>
            <a:pPr algn="l">
              <a:defRPr sz="4800" b="1">
                <a:solidFill>
                  <a:srgbClr val="FFFFFF"/>
                </a:solidFill>
                <a:latin typeface="Segoe UI"/>
              </a:defRPr>
            </a:pPr>
            <a:r>
              <a:t>$0.00 per transaction.</a:t>
            </a:r>
            <a:br/>
            <a:r>
              <a:t>100ms finality.</a:t>
            </a:r>
            <a:br/>
            <a:r>
              <a:t>No token.</a:t>
            </a:r>
          </a:p>
        </p:txBody>
      </p:sp>
      <p:sp>
        <p:nvSpPr>
          <p:cNvPr id="4" name="TextBox 3"/>
          <p:cNvSpPr txBox="1"/>
          <p:nvPr/>
        </p:nvSpPr>
        <p:spPr>
          <a:xfrm>
            <a:off x="1828800" y="5029200"/>
            <a:ext cx="10972800" cy="2743200"/>
          </a:xfrm>
          <a:prstGeom prst="rect">
            <a:avLst/>
          </a:prstGeom>
          <a:noFill/>
        </p:spPr>
        <p:txBody>
          <a:bodyPr wrap="square">
            <a:spAutoFit/>
          </a:bodyPr>
          <a:lstStyle/>
          <a:p>
            <a:pPr>
              <a:spcAft>
                <a:spcPts val="1120"/>
              </a:spcAft>
              <a:defRPr sz="2800" b="0">
                <a:solidFill>
                  <a:srgbClr val="34D399"/>
                </a:solidFill>
                <a:latin typeface="Segoe UI"/>
              </a:defRPr>
            </a:pPr>
            <a:r>
              <a:t>21 validators on Google Cloud</a:t>
            </a:r>
          </a:p>
          <a:p>
            <a:pPr>
              <a:spcAft>
                <a:spcPts val="1120"/>
              </a:spcAft>
              <a:defRPr sz="2800" b="0">
                <a:solidFill>
                  <a:srgbClr val="34D399"/>
                </a:solidFill>
                <a:latin typeface="Segoe UI"/>
              </a:defRPr>
            </a:pPr>
            <a:r>
              <a:t>Ed25519 cryptographic verification (same as Solana)</a:t>
            </a:r>
          </a:p>
          <a:p>
            <a:pPr>
              <a:spcAft>
                <a:spcPts val="1120"/>
              </a:spcAft>
              <a:defRPr sz="2800" b="0">
                <a:solidFill>
                  <a:srgbClr val="34D399"/>
                </a:solidFill>
                <a:latin typeface="Segoe UI"/>
              </a:defRPr>
            </a:pPr>
            <a:r>
              <a:t>Gas metered for safety, priced at $0.00</a:t>
            </a:r>
          </a:p>
          <a:p>
            <a:pPr>
              <a:spcAft>
                <a:spcPts val="1120"/>
              </a:spcAft>
              <a:defRPr sz="2800" b="0">
                <a:solidFill>
                  <a:srgbClr val="34D399"/>
                </a:solidFill>
                <a:latin typeface="Segoe UI"/>
              </a:defRPr>
            </a:pPr>
            <a:r>
              <a:t>USDC native — no gas token needed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34D399"/>
                </a:solidFill>
                <a:latin typeface="Segoe UI"/>
              </a:defRPr>
            </a:pPr>
            <a:r>
              <a:t>WHAT IT ACTUALLY COSTS</a:t>
            </a:r>
          </a:p>
        </p:txBody>
      </p:sp>
      <p:sp>
        <p:nvSpPr>
          <p:cNvPr id="3" name="Rounded Rectangle 2"/>
          <p:cNvSpPr/>
          <p:nvPr/>
        </p:nvSpPr>
        <p:spPr>
          <a:xfrm>
            <a:off x="1828800" y="2011680"/>
            <a:ext cx="50292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0" y="2103120"/>
            <a:ext cx="4114800" cy="457200"/>
          </a:xfrm>
          <a:prstGeom prst="rect">
            <a:avLst/>
          </a:prstGeom>
          <a:noFill/>
        </p:spPr>
        <p:txBody>
          <a:bodyPr wrap="square">
            <a:spAutoFit/>
          </a:bodyPr>
          <a:lstStyle/>
          <a:p>
            <a:pPr algn="l">
              <a:defRPr sz="1600" b="1">
                <a:solidFill>
                  <a:srgbClr val="34D399"/>
                </a:solidFill>
                <a:latin typeface="Segoe UI"/>
              </a:defRPr>
            </a:pPr>
            <a:r>
              <a:t>TESTNET (live now)</a:t>
            </a:r>
          </a:p>
        </p:txBody>
      </p:sp>
      <p:sp>
        <p:nvSpPr>
          <p:cNvPr id="5" name="TextBox 4"/>
          <p:cNvSpPr txBox="1"/>
          <p:nvPr/>
        </p:nvSpPr>
        <p:spPr>
          <a:xfrm>
            <a:off x="2286000" y="2926080"/>
            <a:ext cx="4114800" cy="914400"/>
          </a:xfrm>
          <a:prstGeom prst="rect">
            <a:avLst/>
          </a:prstGeom>
          <a:noFill/>
        </p:spPr>
        <p:txBody>
          <a:bodyPr wrap="square">
            <a:spAutoFit/>
          </a:bodyPr>
          <a:lstStyle/>
          <a:p>
            <a:pPr algn="l">
              <a:defRPr sz="6400" b="1">
                <a:solidFill>
                  <a:srgbClr val="34D399"/>
                </a:solidFill>
                <a:latin typeface="Segoe UI"/>
              </a:defRPr>
            </a:pPr>
            <a:r>
              <a:t>$75</a:t>
            </a:r>
          </a:p>
        </p:txBody>
      </p:sp>
      <p:sp>
        <p:nvSpPr>
          <p:cNvPr id="6" name="TextBox 5"/>
          <p:cNvSpPr txBox="1"/>
          <p:nvPr/>
        </p:nvSpPr>
        <p:spPr>
          <a:xfrm>
            <a:off x="4114800" y="3200400"/>
            <a:ext cx="4114800" cy="914400"/>
          </a:xfrm>
          <a:prstGeom prst="rect">
            <a:avLst/>
          </a:prstGeom>
          <a:noFill/>
        </p:spPr>
        <p:txBody>
          <a:bodyPr wrap="square">
            <a:spAutoFit/>
          </a:bodyPr>
          <a:lstStyle/>
          <a:p>
            <a:pPr algn="l">
              <a:defRPr sz="2800" b="0">
                <a:solidFill>
                  <a:srgbClr val="94A3B8"/>
                </a:solidFill>
                <a:latin typeface="Segoe UI"/>
              </a:defRPr>
            </a:pPr>
            <a:r>
              <a:t>/month</a:t>
            </a:r>
          </a:p>
        </p:txBody>
      </p:sp>
      <p:sp>
        <p:nvSpPr>
          <p:cNvPr id="7" name="TextBox 6"/>
          <p:cNvSpPr txBox="1"/>
          <p:nvPr/>
        </p:nvSpPr>
        <p:spPr>
          <a:xfrm>
            <a:off x="2286000" y="3931920"/>
            <a:ext cx="4114800" cy="731520"/>
          </a:xfrm>
          <a:prstGeom prst="rect">
            <a:avLst/>
          </a:prstGeom>
          <a:noFill/>
        </p:spPr>
        <p:txBody>
          <a:bodyPr wrap="square">
            <a:spAutoFit/>
          </a:bodyPr>
          <a:lstStyle/>
          <a:p>
            <a:pPr algn="l">
              <a:defRPr sz="1800" b="0">
                <a:solidFill>
                  <a:srgbClr val="94A3B8"/>
                </a:solidFill>
                <a:latin typeface="Segoe UI"/>
              </a:defRPr>
            </a:pPr>
            <a:r>
              <a:t>3 validators, 100ms blocks</a:t>
            </a:r>
            <a:br/>
            <a:r>
              <a:t>zero fees, real crypto</a:t>
            </a:r>
          </a:p>
        </p:txBody>
      </p:sp>
      <p:sp>
        <p:nvSpPr>
          <p:cNvPr id="8" name="Rounded Rectangle 7"/>
          <p:cNvSpPr/>
          <p:nvPr/>
        </p:nvSpPr>
        <p:spPr>
          <a:xfrm>
            <a:off x="7772400" y="2011680"/>
            <a:ext cx="5029200" cy="27432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2103120"/>
            <a:ext cx="4114800" cy="457200"/>
          </a:xfrm>
          <a:prstGeom prst="rect">
            <a:avLst/>
          </a:prstGeom>
          <a:noFill/>
        </p:spPr>
        <p:txBody>
          <a:bodyPr wrap="square">
            <a:spAutoFit/>
          </a:bodyPr>
          <a:lstStyle/>
          <a:p>
            <a:pPr algn="l">
              <a:defRPr sz="1600" b="1">
                <a:solidFill>
                  <a:srgbClr val="34D399"/>
                </a:solidFill>
                <a:latin typeface="Segoe UI"/>
              </a:defRPr>
            </a:pPr>
            <a:r>
              <a:t>MAINNET (21 validators)</a:t>
            </a:r>
          </a:p>
        </p:txBody>
      </p:sp>
      <p:sp>
        <p:nvSpPr>
          <p:cNvPr id="10" name="TextBox 9"/>
          <p:cNvSpPr txBox="1"/>
          <p:nvPr/>
        </p:nvSpPr>
        <p:spPr>
          <a:xfrm>
            <a:off x="8229600" y="2926080"/>
            <a:ext cx="4114800" cy="914400"/>
          </a:xfrm>
          <a:prstGeom prst="rect">
            <a:avLst/>
          </a:prstGeom>
          <a:noFill/>
        </p:spPr>
        <p:txBody>
          <a:bodyPr wrap="square">
            <a:spAutoFit/>
          </a:bodyPr>
          <a:lstStyle/>
          <a:p>
            <a:pPr algn="l">
              <a:defRPr sz="6400" b="1">
                <a:solidFill>
                  <a:srgbClr val="34D399"/>
                </a:solidFill>
                <a:latin typeface="Segoe UI"/>
              </a:defRPr>
            </a:pPr>
            <a:r>
              <a:t>$504</a:t>
            </a:r>
          </a:p>
        </p:txBody>
      </p:sp>
      <p:sp>
        <p:nvSpPr>
          <p:cNvPr id="11" name="TextBox 10"/>
          <p:cNvSpPr txBox="1"/>
          <p:nvPr/>
        </p:nvSpPr>
        <p:spPr>
          <a:xfrm>
            <a:off x="10515600" y="3200400"/>
            <a:ext cx="1828800" cy="914400"/>
          </a:xfrm>
          <a:prstGeom prst="rect">
            <a:avLst/>
          </a:prstGeom>
          <a:noFill/>
        </p:spPr>
        <p:txBody>
          <a:bodyPr wrap="square">
            <a:spAutoFit/>
          </a:bodyPr>
          <a:lstStyle/>
          <a:p>
            <a:pPr algn="l">
              <a:defRPr sz="2800" b="0">
                <a:solidFill>
                  <a:srgbClr val="94A3B8"/>
                </a:solidFill>
                <a:latin typeface="Segoe UI"/>
              </a:defRPr>
            </a:pPr>
            <a:r>
              <a:t>/month</a:t>
            </a:r>
          </a:p>
        </p:txBody>
      </p:sp>
      <p:sp>
        <p:nvSpPr>
          <p:cNvPr id="12" name="TextBox 11"/>
          <p:cNvSpPr txBox="1"/>
          <p:nvPr/>
        </p:nvSpPr>
        <p:spPr>
          <a:xfrm>
            <a:off x="8229600" y="3931920"/>
            <a:ext cx="4114800" cy="731520"/>
          </a:xfrm>
          <a:prstGeom prst="rect">
            <a:avLst/>
          </a:prstGeom>
          <a:noFill/>
        </p:spPr>
        <p:txBody>
          <a:bodyPr wrap="square">
            <a:spAutoFit/>
          </a:bodyPr>
          <a:lstStyle/>
          <a:p>
            <a:pPr algn="l">
              <a:defRPr sz="1800" b="0">
                <a:solidFill>
                  <a:srgbClr val="94A3B8"/>
                </a:solidFill>
                <a:latin typeface="Segoe UI"/>
              </a:defRPr>
            </a:pPr>
            <a:r>
              <a:t>Full production network</a:t>
            </a:r>
            <a:br/>
            <a:r>
              <a:t>Less than a SaaS subscription</a:t>
            </a:r>
          </a:p>
        </p:txBody>
      </p:sp>
      <p:sp>
        <p:nvSpPr>
          <p:cNvPr id="13" name="TextBox 12"/>
          <p:cNvSpPr txBox="1"/>
          <p:nvPr/>
        </p:nvSpPr>
        <p:spPr>
          <a:xfrm>
            <a:off x="1828800" y="5486400"/>
            <a:ext cx="10972800" cy="548640"/>
          </a:xfrm>
          <a:prstGeom prst="rect">
            <a:avLst/>
          </a:prstGeom>
          <a:noFill/>
        </p:spPr>
        <p:txBody>
          <a:bodyPr wrap="square">
            <a:spAutoFit/>
          </a:bodyPr>
          <a:lstStyle/>
          <a:p>
            <a:pPr algn="l">
              <a:defRPr sz="2000" b="0">
                <a:solidFill>
                  <a:srgbClr val="94A3B8"/>
                </a:solidFill>
                <a:latin typeface="Segoe UI"/>
              </a:defRPr>
            </a:pPr>
            <a:r>
              <a:t>For context:</a:t>
            </a:r>
          </a:p>
        </p:txBody>
      </p:sp>
      <p:sp>
        <p:nvSpPr>
          <p:cNvPr id="14" name="TextBox 13"/>
          <p:cNvSpPr txBox="1"/>
          <p:nvPr/>
        </p:nvSpPr>
        <p:spPr>
          <a:xfrm>
            <a:off x="1828800" y="6035040"/>
            <a:ext cx="10972800" cy="1828800"/>
          </a:xfrm>
          <a:prstGeom prst="rect">
            <a:avLst/>
          </a:prstGeom>
          <a:noFill/>
        </p:spPr>
        <p:txBody>
          <a:bodyPr wrap="square">
            <a:spAutoFit/>
          </a:bodyPr>
          <a:lstStyle/>
          <a:p>
            <a:pPr>
              <a:spcAft>
                <a:spcPts val="880"/>
              </a:spcAft>
              <a:defRPr sz="2200" b="0">
                <a:solidFill>
                  <a:srgbClr val="94A3B8"/>
                </a:solidFill>
                <a:latin typeface="Segoe UI"/>
              </a:defRPr>
            </a:pPr>
            <a:r>
              <a:t>Ethereum: $80B+ locked capital + billions in annual fees</a:t>
            </a:r>
          </a:p>
          <a:p>
            <a:pPr>
              <a:spcAft>
                <a:spcPts val="880"/>
              </a:spcAft>
              <a:defRPr sz="2200" b="0">
                <a:solidFill>
                  <a:srgbClr val="94A3B8"/>
                </a:solidFill>
                <a:latin typeface="Segoe UI"/>
              </a:defRPr>
            </a:pPr>
            <a:r>
              <a:t>Solana: ~$150M/year in hardware + voting fees</a:t>
            </a:r>
          </a:p>
          <a:p>
            <a:pPr>
              <a:spcAft>
                <a:spcPts val="1120"/>
              </a:spcAft>
              <a:defRPr sz="2800" b="1">
                <a:solidFill>
                  <a:srgbClr val="34D399"/>
                </a:solidFill>
                <a:latin typeface="Segoe UI"/>
              </a:defRPr>
            </a:pPr>
            <a:r>
              <a:t>Dina: $6,048/year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731520"/>
            <a:ext cx="10972800" cy="548640"/>
          </a:xfrm>
          <a:prstGeom prst="rect">
            <a:avLst/>
          </a:prstGeom>
          <a:noFill/>
        </p:spPr>
        <p:txBody>
          <a:bodyPr wrap="square">
            <a:spAutoFit/>
          </a:bodyPr>
          <a:lstStyle/>
          <a:p>
            <a:pPr algn="l">
              <a:defRPr sz="1800" b="1">
                <a:solidFill>
                  <a:srgbClr val="34D399"/>
                </a:solidFill>
                <a:latin typeface="Segoe UI"/>
              </a:defRPr>
            </a:pPr>
            <a:r>
              <a:t>WHAT WE BUILT</a:t>
            </a:r>
          </a:p>
        </p:txBody>
      </p:sp>
      <p:sp>
        <p:nvSpPr>
          <p:cNvPr id="3" name="TextBox 2"/>
          <p:cNvSpPr txBox="1"/>
          <p:nvPr/>
        </p:nvSpPr>
        <p:spPr>
          <a:xfrm>
            <a:off x="1828800" y="1371600"/>
            <a:ext cx="10972800" cy="731520"/>
          </a:xfrm>
          <a:prstGeom prst="rect">
            <a:avLst/>
          </a:prstGeom>
          <a:noFill/>
        </p:spPr>
        <p:txBody>
          <a:bodyPr wrap="square">
            <a:spAutoFit/>
          </a:bodyPr>
          <a:lstStyle/>
          <a:p>
            <a:pPr algn="l">
              <a:defRPr sz="3200" b="1">
                <a:solidFill>
                  <a:srgbClr val="FFFFFF"/>
                </a:solidFill>
                <a:latin typeface="Segoe UI"/>
              </a:defRPr>
            </a:pPr>
            <a:r>
              <a:t>9 wallets per user. All earning yield.</a:t>
            </a:r>
          </a:p>
        </p:txBody>
      </p:sp>
      <p:sp>
        <p:nvSpPr>
          <p:cNvPr id="4" name="Rounded Rectangle 3"/>
          <p:cNvSpPr/>
          <p:nvPr/>
        </p:nvSpPr>
        <p:spPr>
          <a:xfrm>
            <a:off x="1371600" y="2560320"/>
            <a:ext cx="3657600" cy="2286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645920" y="2651760"/>
            <a:ext cx="3200400" cy="365760"/>
          </a:xfrm>
          <a:prstGeom prst="rect">
            <a:avLst/>
          </a:prstGeom>
          <a:noFill/>
        </p:spPr>
        <p:txBody>
          <a:bodyPr wrap="square">
            <a:spAutoFit/>
          </a:bodyPr>
          <a:lstStyle/>
          <a:p>
            <a:pPr algn="l">
              <a:defRPr sz="1400" b="1">
                <a:solidFill>
                  <a:srgbClr val="34D399"/>
                </a:solidFill>
                <a:latin typeface="Segoe UI"/>
              </a:defRPr>
            </a:pPr>
            <a:r>
              <a:t>SMART ACCOUNTS (x3)</a:t>
            </a:r>
          </a:p>
        </p:txBody>
      </p:sp>
      <p:sp>
        <p:nvSpPr>
          <p:cNvPr id="6" name="TextBox 5"/>
          <p:cNvSpPr txBox="1"/>
          <p:nvPr/>
        </p:nvSpPr>
        <p:spPr>
          <a:xfrm>
            <a:off x="1645920" y="3108960"/>
            <a:ext cx="3200400" cy="1645920"/>
          </a:xfrm>
          <a:prstGeom prst="rect">
            <a:avLst/>
          </a:prstGeom>
          <a:noFill/>
        </p:spPr>
        <p:txBody>
          <a:bodyPr wrap="square">
            <a:spAutoFit/>
          </a:bodyPr>
          <a:lstStyle/>
          <a:p>
            <a:pPr>
              <a:spcAft>
                <a:spcPts val="800"/>
              </a:spcAft>
              <a:defRPr sz="2000" b="1">
                <a:solidFill>
                  <a:srgbClr val="FFFFFF"/>
                </a:solidFill>
                <a:latin typeface="Segoe UI"/>
              </a:defRPr>
            </a:pPr>
            <a:r>
              <a:t>Main  ·  Savings  ·  Backup</a:t>
            </a:r>
          </a:p>
          <a:p>
            <a:pPr>
              <a:spcAft>
                <a:spcPts val="960"/>
              </a:spcAft>
              <a:defRPr sz="2400" b="1">
                <a:solidFill>
                  <a:srgbClr val="34D399"/>
                </a:solidFill>
                <a:latin typeface="Segoe UI"/>
              </a:defRPr>
            </a:pPr>
            <a:r>
              <a:t>4.5% APY</a:t>
            </a:r>
          </a:p>
          <a:p>
            <a:pPr>
              <a:spcAft>
                <a:spcPts val="640"/>
              </a:spcAft>
              <a:defRPr sz="1600" b="0">
                <a:solidFill>
                  <a:srgbClr val="94A3B8"/>
                </a:solidFill>
                <a:latin typeface="Segoe UI"/>
              </a:defRPr>
            </a:pPr>
            <a:r>
              <a:t>User controls the keys</a:t>
            </a:r>
          </a:p>
          <a:p>
            <a:pPr>
              <a:spcAft>
                <a:spcPts val="640"/>
              </a:spcAft>
              <a:defRPr sz="1600" b="0">
                <a:solidFill>
                  <a:srgbClr val="94A3B8"/>
                </a:solidFill>
                <a:latin typeface="Segoe UI"/>
              </a:defRPr>
            </a:pPr>
            <a:r>
              <a:t>Each has its own password</a:t>
            </a:r>
          </a:p>
        </p:txBody>
      </p:sp>
      <p:sp>
        <p:nvSpPr>
          <p:cNvPr id="7" name="Rounded Rectangle 6"/>
          <p:cNvSpPr/>
          <p:nvPr/>
        </p:nvSpPr>
        <p:spPr>
          <a:xfrm>
            <a:off x="5486400" y="2560320"/>
            <a:ext cx="3657600" cy="2286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0" y="2651760"/>
            <a:ext cx="3200400" cy="365760"/>
          </a:xfrm>
          <a:prstGeom prst="rect">
            <a:avLst/>
          </a:prstGeom>
          <a:noFill/>
        </p:spPr>
        <p:txBody>
          <a:bodyPr wrap="square">
            <a:spAutoFit/>
          </a:bodyPr>
          <a:lstStyle/>
          <a:p>
            <a:pPr algn="l">
              <a:defRPr sz="1400" b="1">
                <a:solidFill>
                  <a:srgbClr val="FBBF24"/>
                </a:solidFill>
                <a:latin typeface="Segoe UI"/>
              </a:defRPr>
            </a:pPr>
            <a:r>
              <a:t>AGENT WALLETS (x3)</a:t>
            </a:r>
          </a:p>
        </p:txBody>
      </p:sp>
      <p:sp>
        <p:nvSpPr>
          <p:cNvPr id="9" name="TextBox 8"/>
          <p:cNvSpPr txBox="1"/>
          <p:nvPr/>
        </p:nvSpPr>
        <p:spPr>
          <a:xfrm>
            <a:off x="5760720" y="3108960"/>
            <a:ext cx="3200400" cy="1645920"/>
          </a:xfrm>
          <a:prstGeom prst="rect">
            <a:avLst/>
          </a:prstGeom>
          <a:noFill/>
        </p:spPr>
        <p:txBody>
          <a:bodyPr wrap="square">
            <a:spAutoFit/>
          </a:bodyPr>
          <a:lstStyle/>
          <a:p>
            <a:pPr>
              <a:spcAft>
                <a:spcPts val="800"/>
              </a:spcAft>
              <a:defRPr sz="2000" b="1">
                <a:solidFill>
                  <a:srgbClr val="FFFFFF"/>
                </a:solidFill>
                <a:latin typeface="Segoe UI"/>
              </a:defRPr>
            </a:pPr>
            <a:r>
              <a:t>Shopping  ·  Bills  ·  Custom</a:t>
            </a:r>
          </a:p>
          <a:p>
            <a:pPr>
              <a:spcAft>
                <a:spcPts val="960"/>
              </a:spcAft>
              <a:defRPr sz="2400" b="1">
                <a:solidFill>
                  <a:srgbClr val="FBBF24"/>
                </a:solidFill>
                <a:latin typeface="Segoe UI"/>
              </a:defRPr>
            </a:pPr>
            <a:r>
              <a:t>3.5% APY</a:t>
            </a:r>
          </a:p>
          <a:p>
            <a:pPr>
              <a:spcAft>
                <a:spcPts val="640"/>
              </a:spcAft>
              <a:defRPr sz="1600" b="0">
                <a:solidFill>
                  <a:srgbClr val="94A3B8"/>
                </a:solidFill>
                <a:latin typeface="Segoe UI"/>
              </a:defRPr>
            </a:pPr>
            <a:r>
              <a:t>AI signs within daily limits</a:t>
            </a:r>
          </a:p>
          <a:p>
            <a:pPr>
              <a:spcAft>
                <a:spcPts val="640"/>
              </a:spcAft>
              <a:defRPr sz="1600" b="0">
                <a:solidFill>
                  <a:srgbClr val="94A3B8"/>
                </a:solidFill>
                <a:latin typeface="Segoe UI"/>
              </a:defRPr>
            </a:pPr>
            <a:r>
              <a:t>Revocable from any SCA</a:t>
            </a:r>
          </a:p>
        </p:txBody>
      </p:sp>
      <p:sp>
        <p:nvSpPr>
          <p:cNvPr id="10" name="Rounded Rectangle 9"/>
          <p:cNvSpPr/>
          <p:nvPr/>
        </p:nvSpPr>
        <p:spPr>
          <a:xfrm>
            <a:off x="9601200" y="2560320"/>
            <a:ext cx="3657600" cy="228600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875520" y="2651760"/>
            <a:ext cx="3200400" cy="365760"/>
          </a:xfrm>
          <a:prstGeom prst="rect">
            <a:avLst/>
          </a:prstGeom>
          <a:noFill/>
        </p:spPr>
        <p:txBody>
          <a:bodyPr wrap="square">
            <a:spAutoFit/>
          </a:bodyPr>
          <a:lstStyle/>
          <a:p>
            <a:pPr algn="l">
              <a:defRPr sz="1400" b="1">
                <a:solidFill>
                  <a:srgbClr val="60A5FA"/>
                </a:solidFill>
                <a:latin typeface="Segoe UI"/>
              </a:defRPr>
            </a:pPr>
            <a:r>
              <a:t>PARALLEL WALLETS (x3)</a:t>
            </a:r>
          </a:p>
        </p:txBody>
      </p:sp>
      <p:sp>
        <p:nvSpPr>
          <p:cNvPr id="12" name="TextBox 11"/>
          <p:cNvSpPr txBox="1"/>
          <p:nvPr/>
        </p:nvSpPr>
        <p:spPr>
          <a:xfrm>
            <a:off x="9875520" y="3108960"/>
            <a:ext cx="3200400" cy="1645920"/>
          </a:xfrm>
          <a:prstGeom prst="rect">
            <a:avLst/>
          </a:prstGeom>
          <a:noFill/>
        </p:spPr>
        <p:txBody>
          <a:bodyPr wrap="square">
            <a:spAutoFit/>
          </a:bodyPr>
          <a:lstStyle/>
          <a:p>
            <a:pPr>
              <a:spcAft>
                <a:spcPts val="800"/>
              </a:spcAft>
              <a:defRPr sz="2000" b="1">
                <a:solidFill>
                  <a:srgbClr val="FFFFFF"/>
                </a:solidFill>
                <a:latin typeface="Segoe UI"/>
              </a:defRPr>
            </a:pPr>
            <a:r>
              <a:t>Business  ·  Streaming  ·  API</a:t>
            </a:r>
          </a:p>
          <a:p>
            <a:pPr>
              <a:spcAft>
                <a:spcPts val="960"/>
              </a:spcAft>
              <a:defRPr sz="2400" b="1">
                <a:solidFill>
                  <a:srgbClr val="60A5FA"/>
                </a:solidFill>
                <a:latin typeface="Segoe UI"/>
              </a:defRPr>
            </a:pPr>
            <a:r>
              <a:t>3.0% APY</a:t>
            </a:r>
          </a:p>
          <a:p>
            <a:pPr>
              <a:spcAft>
                <a:spcPts val="640"/>
              </a:spcAft>
              <a:defRPr sz="1600" b="0">
                <a:solidFill>
                  <a:srgbClr val="94A3B8"/>
                </a:solidFill>
                <a:latin typeface="Segoe UI"/>
              </a:defRPr>
            </a:pPr>
            <a:r>
              <a:t>Independent nonces</a:t>
            </a:r>
          </a:p>
          <a:p>
            <a:pPr>
              <a:spcAft>
                <a:spcPts val="640"/>
              </a:spcAft>
              <a:defRPr sz="1600" b="0">
                <a:solidFill>
                  <a:srgbClr val="94A3B8"/>
                </a:solidFill>
                <a:latin typeface="Segoe UI"/>
              </a:defRPr>
            </a:pPr>
            <a:r>
              <a:t>1,000 payments in 100ms</a:t>
            </a:r>
          </a:p>
        </p:txBody>
      </p:sp>
      <p:sp>
        <p:nvSpPr>
          <p:cNvPr id="13" name="TextBox 12"/>
          <p:cNvSpPr txBox="1"/>
          <p:nvPr/>
        </p:nvSpPr>
        <p:spPr>
          <a:xfrm>
            <a:off x="1828800" y="5303520"/>
            <a:ext cx="10972800" cy="457200"/>
          </a:xfrm>
          <a:prstGeom prst="rect">
            <a:avLst/>
          </a:prstGeom>
          <a:noFill/>
        </p:spPr>
        <p:txBody>
          <a:bodyPr wrap="square">
            <a:spAutoFit/>
          </a:bodyPr>
          <a:lstStyle/>
          <a:p>
            <a:pPr algn="ctr">
              <a:defRPr sz="2200" b="1">
                <a:solidFill>
                  <a:srgbClr val="34D399"/>
                </a:solidFill>
                <a:latin typeface="Segoe UI"/>
              </a:defRPr>
            </a:pPr>
            <a:r>
              <a:t>All USDC. Users keep 100% of their yield. Dina takes zero.</a:t>
            </a:r>
          </a:p>
        </p:txBody>
      </p:sp>
      <p:sp>
        <p:nvSpPr>
          <p:cNvPr id="14" name="TextBox 13"/>
          <p:cNvSpPr txBox="1"/>
          <p:nvPr/>
        </p:nvSpPr>
        <p:spPr>
          <a:xfrm>
            <a:off x="1828800" y="6217920"/>
            <a:ext cx="10972800" cy="1645920"/>
          </a:xfrm>
          <a:prstGeom prst="rect">
            <a:avLst/>
          </a:prstGeom>
          <a:noFill/>
        </p:spPr>
        <p:txBody>
          <a:bodyPr wrap="square">
            <a:spAutoFit/>
          </a:bodyPr>
          <a:lstStyle/>
          <a:p>
            <a:pPr>
              <a:spcAft>
                <a:spcPts val="880"/>
              </a:spcAft>
              <a:defRPr sz="2200" b="0">
                <a:solidFill>
                  <a:srgbClr val="FFFFFF"/>
                </a:solidFill>
                <a:latin typeface="Segoe UI"/>
              </a:defRPr>
            </a:pPr>
            <a:r>
              <a:t>Real-time yield streaming — balance ticks up every second</a:t>
            </a:r>
          </a:p>
          <a:p>
            <a:pPr>
              <a:spcAft>
                <a:spcPts val="880"/>
              </a:spcAft>
              <a:defRPr sz="2200" b="0">
                <a:solidFill>
                  <a:srgbClr val="FFFFFF"/>
                </a:solidFill>
                <a:latin typeface="Segoe UI"/>
              </a:defRPr>
            </a:pPr>
            <a:r>
              <a:t>Balance-based rate limiting — more USDC = more tx capacity</a:t>
            </a:r>
          </a:p>
          <a:p>
            <a:pPr>
              <a:spcAft>
                <a:spcPts val="880"/>
              </a:spcAft>
              <a:defRPr sz="2200" b="0">
                <a:solidFill>
                  <a:srgbClr val="FFFFFF"/>
                </a:solidFill>
                <a:latin typeface="Segoe UI"/>
              </a:defRPr>
            </a:pPr>
            <a:r>
              <a:t>$1 minimum balance prevents Sybil attacks</a:t>
            </a:r>
          </a:p>
          <a:p>
            <a:pPr>
              <a:spcAft>
                <a:spcPts val="880"/>
              </a:spcAft>
              <a:defRPr sz="2200" b="0">
                <a:solidFill>
                  <a:srgbClr val="FFFFFF"/>
                </a:solidFill>
                <a:latin typeface="Segoe UI"/>
              </a:defRPr>
            </a:pPr>
            <a:r>
              <a:t>Token bucket burst system: up to 50,000 tx burst at $100K+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914400"/>
            <a:ext cx="10972800" cy="548640"/>
          </a:xfrm>
          <a:prstGeom prst="rect">
            <a:avLst/>
          </a:prstGeom>
          <a:noFill/>
        </p:spPr>
        <p:txBody>
          <a:bodyPr wrap="square">
            <a:spAutoFit/>
          </a:bodyPr>
          <a:lstStyle/>
          <a:p>
            <a:pPr algn="l">
              <a:defRPr sz="1800" b="1">
                <a:solidFill>
                  <a:srgbClr val="34D399"/>
                </a:solidFill>
                <a:latin typeface="Segoe UI"/>
              </a:defRPr>
            </a:pPr>
            <a:r>
              <a:t>IT'S LIVE RIGHT NOW</a:t>
            </a:r>
          </a:p>
        </p:txBody>
      </p:sp>
      <p:sp>
        <p:nvSpPr>
          <p:cNvPr id="3" name="TextBox 2"/>
          <p:cNvSpPr txBox="1"/>
          <p:nvPr/>
        </p:nvSpPr>
        <p:spPr>
          <a:xfrm>
            <a:off x="1828800" y="2286000"/>
            <a:ext cx="10972800" cy="1371600"/>
          </a:xfrm>
          <a:prstGeom prst="rect">
            <a:avLst/>
          </a:prstGeom>
          <a:noFill/>
        </p:spPr>
        <p:txBody>
          <a:bodyPr wrap="square">
            <a:spAutoFit/>
          </a:bodyPr>
          <a:lstStyle/>
          <a:p>
            <a:pPr algn="ctr">
              <a:defRPr sz="4800" b="1">
                <a:solidFill>
                  <a:srgbClr val="34D399"/>
                </a:solidFill>
                <a:latin typeface="Segoe UI"/>
              </a:defRPr>
            </a:pPr>
            <a:r>
              <a:t>dina-wallet.web.app</a:t>
            </a:r>
          </a:p>
        </p:txBody>
      </p:sp>
      <p:sp>
        <p:nvSpPr>
          <p:cNvPr id="4" name="TextBox 3"/>
          <p:cNvSpPr txBox="1"/>
          <p:nvPr/>
        </p:nvSpPr>
        <p:spPr>
          <a:xfrm>
            <a:off x="1828800" y="4572000"/>
            <a:ext cx="10972800" cy="2743200"/>
          </a:xfrm>
          <a:prstGeom prst="rect">
            <a:avLst/>
          </a:prstGeom>
          <a:noFill/>
        </p:spPr>
        <p:txBody>
          <a:bodyPr wrap="square">
            <a:spAutoFit/>
          </a:bodyPr>
          <a:lstStyle/>
          <a:p>
            <a:pPr>
              <a:spcAft>
                <a:spcPts val="1040"/>
              </a:spcAft>
              <a:defRPr sz="2600" b="0">
                <a:solidFill>
                  <a:srgbClr val="FFFFFF"/>
                </a:solidFill>
                <a:latin typeface="Segoe UI"/>
              </a:defRPr>
            </a:pPr>
            <a:r>
              <a:t>Testnet running at 100ms blocks</a:t>
            </a:r>
          </a:p>
          <a:p>
            <a:pPr>
              <a:spcAft>
                <a:spcPts val="1040"/>
              </a:spcAft>
              <a:defRPr sz="2600" b="0">
                <a:solidFill>
                  <a:srgbClr val="FFFFFF"/>
                </a:solidFill>
                <a:latin typeface="Segoe UI"/>
              </a:defRPr>
            </a:pPr>
            <a:r>
              <a:t>Real Ed25519 signed transactions</a:t>
            </a:r>
          </a:p>
          <a:p>
            <a:pPr>
              <a:spcAft>
                <a:spcPts val="1040"/>
              </a:spcAft>
              <a:defRPr sz="2600" b="0">
                <a:solidFill>
                  <a:srgbClr val="FFFFFF"/>
                </a:solidFill>
                <a:latin typeface="Segoe UI"/>
              </a:defRPr>
            </a:pPr>
            <a:r>
              <a:t>Real-time yield streaming in your browser</a:t>
            </a:r>
          </a:p>
          <a:p>
            <a:pPr>
              <a:spcAft>
                <a:spcPts val="1040"/>
              </a:spcAft>
              <a:defRPr sz="2600" b="0">
                <a:solidFill>
                  <a:srgbClr val="FFFFFF"/>
                </a:solidFill>
                <a:latin typeface="Segoe UI"/>
              </a:defRPr>
            </a:pPr>
            <a:r>
              <a:t>Send, receive, convert — all zero fees</a:t>
            </a:r>
          </a:p>
          <a:p>
            <a:pPr>
              <a:spcAft>
                <a:spcPts val="1040"/>
              </a:spcAft>
              <a:defRPr sz="2600" b="0">
                <a:solidFill>
                  <a:srgbClr val="FFFFFF"/>
                </a:solidFill>
                <a:latin typeface="Segoe UI"/>
              </a:defRPr>
            </a:pPr>
            <a:r>
              <a:t>Tap 'Get 10,000 Test USDC' and try it</a:t>
            </a:r>
          </a:p>
        </p:txBody>
      </p:sp>
      <p:sp>
        <p:nvSpPr>
          <p:cNvPr id="5" name="TextBox 4"/>
          <p:cNvSpPr txBox="1"/>
          <p:nvPr/>
        </p:nvSpPr>
        <p:spPr>
          <a:xfrm>
            <a:off x="1828800" y="7315200"/>
            <a:ext cx="10972800" cy="457200"/>
          </a:xfrm>
          <a:prstGeom prst="rect">
            <a:avLst/>
          </a:prstGeom>
          <a:noFill/>
        </p:spPr>
        <p:txBody>
          <a:bodyPr wrap="square">
            <a:spAutoFit/>
          </a:bodyPr>
          <a:lstStyle/>
          <a:p>
            <a:pPr algn="ctr">
              <a:defRPr sz="2200" b="1">
                <a:solidFill>
                  <a:srgbClr val="34D399"/>
                </a:solidFill>
                <a:latin typeface="Segoe UI"/>
              </a:defRPr>
            </a:pPr>
            <a:r>
              <a:t>Open it. Send a transaction. Watch it confirm in 100ms. Pay $0.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828800" y="1371600"/>
            <a:ext cx="10972800" cy="1828800"/>
          </a:xfrm>
          <a:prstGeom prst="rect">
            <a:avLst/>
          </a:prstGeom>
          <a:noFill/>
        </p:spPr>
        <p:txBody>
          <a:bodyPr wrap="square">
            <a:spAutoFit/>
          </a:bodyPr>
          <a:lstStyle/>
          <a:p>
            <a:pPr algn="ctr">
              <a:defRPr sz="4800" b="0">
                <a:solidFill>
                  <a:srgbClr val="94A3B8"/>
                </a:solidFill>
                <a:latin typeface="Segoe UI"/>
              </a:defRPr>
            </a:pPr>
            <a:r>
              <a:t>The blockchain industry</a:t>
            </a:r>
            <a:br/>
            <a:r>
              <a:t>built a toll booth</a:t>
            </a:r>
            <a:br/>
            <a:r>
              <a:t>on a free road.</a:t>
            </a:r>
          </a:p>
        </p:txBody>
      </p:sp>
      <p:sp>
        <p:nvSpPr>
          <p:cNvPr id="3" name="TextBox 2"/>
          <p:cNvSpPr txBox="1"/>
          <p:nvPr/>
        </p:nvSpPr>
        <p:spPr>
          <a:xfrm>
            <a:off x="1828800" y="4114800"/>
            <a:ext cx="10972800" cy="1828800"/>
          </a:xfrm>
          <a:prstGeom prst="rect">
            <a:avLst/>
          </a:prstGeom>
          <a:noFill/>
        </p:spPr>
        <p:txBody>
          <a:bodyPr wrap="square">
            <a:spAutoFit/>
          </a:bodyPr>
          <a:lstStyle/>
          <a:p>
            <a:pPr algn="ctr">
              <a:defRPr sz="4800" b="0">
                <a:solidFill>
                  <a:srgbClr val="94A3B8"/>
                </a:solidFill>
                <a:latin typeface="Segoe UI"/>
              </a:defRPr>
            </a:pPr>
            <a:r>
              <a:t>And convinced everyone</a:t>
            </a:r>
            <a:br/>
            <a:r>
              <a:t>the tolls were a feature.</a:t>
            </a:r>
          </a:p>
        </p:txBody>
      </p:sp>
      <p:sp>
        <p:nvSpPr>
          <p:cNvPr id="4" name="TextBox 3"/>
          <p:cNvSpPr txBox="1"/>
          <p:nvPr/>
        </p:nvSpPr>
        <p:spPr>
          <a:xfrm>
            <a:off x="1828800" y="6858000"/>
            <a:ext cx="10972800" cy="914400"/>
          </a:xfrm>
          <a:prstGeom prst="rect">
            <a:avLst/>
          </a:prstGeom>
          <a:noFill/>
        </p:spPr>
        <p:txBody>
          <a:bodyPr wrap="square">
            <a:spAutoFit/>
          </a:bodyPr>
          <a:lstStyle/>
          <a:p>
            <a:pPr algn="ctr">
              <a:defRPr sz="5200" b="1">
                <a:solidFill>
                  <a:srgbClr val="FFFFFF"/>
                </a:solidFill>
                <a:latin typeface="Segoe UI"/>
              </a:defRPr>
            </a:pPr>
            <a:r>
              <a:t>We removed the toll booth.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